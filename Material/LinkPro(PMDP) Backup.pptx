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172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LinkPro as a full-fledged MERN-stack networking platform built under the PMDP curriculum at L.J.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32118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each member's core engineering contribution to the full-stack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82198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core problem areas: fragmented portals, high-latency messaging, regional isolation, and newsfeed clutter.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6869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Distinguish between In-Scope deliverables finished on Oct 31 and Out-of-Scope future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1882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LinkPro against existing platforms focusing on WebSockets, GoF patterns, and zero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46779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project duration from 1 August to 31 October 2026 with final sign-off on 31-Oct-2026.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4275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Agile Scrum allowed the team to allocate dedicated sprints for refactoring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22946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WBS table reflecting the 14 engineering packages documented on Page 20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4003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Sprint 15 concluded on 31 October 2026 with complete deployment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1147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Jira issue tracking, epic completion rates, and the technical criteria for LINKPRO-16.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3765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technical risks R-001 through R-010 from the documentation and how each was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45890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high-resolution architecture diagram showing the flow between Client, Express, Sockets, and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89599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structural domain class diagram and trace relationships into Mongoose schemas.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53143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REFACTOR-001 through 006, highlighting how each SOLID principle solved a real code smell.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2035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 the 9 GoF patterns and reference the Facade UML diagram on the right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97549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the test results from PDF Page 61-62 showing successful execution across all core test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67920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Guide the evaluators through the 4 core steps of the live application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079427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4 post-release enhancement vectors from Section 6.10 of the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18738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technical and academic accomplishments of the LinkPro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808044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evaluators and invite questions for the technical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4514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LinkPro Networking Platform</a:t>
            </a:r>
          </a:p>
          <a:p>
            <a:pPr>
              <a:spcBef>
                <a:spcPts val="800"/>
              </a:spcBef>
              <a:defRPr sz="1600">
                <a:solidFill>
                  <a:srgbClr val="BAE6FD"/>
                </a:solidFill>
                <a:latin typeface="Arial"/>
              </a:defRPr>
            </a:pPr>
            <a:r>
              <a:t>A MERN-Stack Professional Career Networking &amp; Real-Time Collaboration Ecosystem</a:t>
            </a:r>
          </a:p>
          <a:p>
            <a:pPr>
              <a:spcBef>
                <a:spcPts val="600"/>
              </a:spcBef>
              <a:defRPr sz="1250">
                <a:solidFill>
                  <a:srgbClr val="94A3B8"/>
                </a:solidFill>
                <a:latin typeface="Arial"/>
              </a:defRPr>
            </a:pPr>
            <a:r>
              <a:t>Project Management &amp; Development Practices (PMDP) | Batch: B66 | Timeline: 01-Aug-2026 to 31-Oct-2026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29184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Anand Yadav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Enrolment: 22002501210066  |  Roll: B66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Backend Developer &amp; Database Architect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291840"/>
            <a:ext cx="329184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Smit Dutt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Enrolment: 22002501210008  |  Roll: B09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Frontend Developer &amp; UI/UX Architect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291840"/>
            <a:ext cx="3291840" cy="1508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Hardik Nakum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Arial"/>
              </a:defRPr>
            </a:pPr>
            <a:r>
              <a:t>Enrolment: 22002501210035  |  Roll: B32</a:t>
            </a:r>
          </a:p>
          <a:p>
            <a:pPr>
              <a:spcBef>
                <a:spcPts val="400"/>
              </a:spcBef>
              <a:defRPr sz="950" b="1">
                <a:solidFill>
                  <a:srgbClr val="38BDF8"/>
                </a:solidFill>
                <a:latin typeface="Arial"/>
              </a:defRPr>
            </a:pPr>
            <a:r>
              <a:t>QA, Testing Lead &amp;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L.J. SCHOOL OF COMPUTER APPLICATIONS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Arial"/>
              </a:defRPr>
            </a:pPr>
            <a:r>
              <a:t>LJ University, Off S.G. Road, Ahmedabad - 382210 | Semester 9 (IMCA)</a:t>
            </a:r>
          </a:p>
          <a:p>
            <a:pPr>
              <a:spcBef>
                <a:spcPts val="400"/>
              </a:spcBef>
              <a:defRPr sz="1050">
                <a:solidFill>
                  <a:srgbClr val="38BDF8"/>
                </a:solidFill>
                <a:latin typeface="Arial"/>
              </a:defRPr>
            </a:pPr>
            <a:r>
              <a:t>Internal Guide: Prof. Rita Gokani  |  Head of Department: Dr. Monica Gahalawat  |  Director: Prof. Alok Manke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Team Roles &amp; Engineering Responsibilities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Clear division of engineering ownership across the full-stack MERN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02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Anand Yadav  </a:t>
            </a:r>
            <a:r>
              <a:rPr sz="850" b="1">
                <a:solidFill>
                  <a:srgbClr val="0A66C2"/>
                </a:solidFill>
              </a:rPr>
              <a:t>[Backend &amp; Database]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Enrolment: 22002501210066 (Roll B66)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Core Role: Backend Developer &amp; Team Manager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Key Engineering Responsibilities: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Node.js &amp; Express RESTful API routing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MongoDB Schema Design &amp; Mongoose indexing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JWT &amp; bcrypt security authentication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Singleton Database Manager implementation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PostFacade &amp; NotificationFactory refactoring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Sprint Ownership: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Led Sprints 1, 2, 3, 5, 11, 14 &amp;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Smit Dutt  </a:t>
            </a:r>
            <a:r>
              <a:rPr sz="850" b="1">
                <a:solidFill>
                  <a:srgbClr val="7C3AED"/>
                </a:solidFill>
              </a:rPr>
              <a:t>[Frontend &amp; UI/UX]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Enrolment: 22002501210008 (Roll B09)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Core Role: Frontend Developer &amp; Sockets Lead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Key Engineering Responsibilities: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React 18 Single Page Application architecture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Tailwind CSS responsive utility layout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Socket.io Client for bi-directional chat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Dynamic Feed Strategy Pattern integration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Connection lifecycle State Pattern UI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Sprint Ownership: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Led Sprints 4, 6, 7, 8, 9, 10 &amp;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Hardik Nakum  </a:t>
            </a:r>
            <a:r>
              <a:rPr sz="850" b="1">
                <a:solidFill>
                  <a:srgbClr val="059669"/>
                </a:solidFill>
              </a:rPr>
              <a:t>[QA &amp; Testing]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Enrolment: 22002501210035 (Roll B32)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Core Role: QA, System Testing &amp; Documentation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Key Engineering Responsibilities: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Automated Postman API test collection setup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26 formal test cases across modules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Jira Scrum tracking &amp; Velocity burndown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Verification of GoF Design Patterns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Comprehensive 80-page PMDP report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Sprint Ownership: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Led Sprints 12 (Testing) &amp; Project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Problem Definition &amp; Market Inefficiencies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Targeting systemic bottlenecks documented in Section 1.4 of the project charter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03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1. Fragmented Job Searching  </a:t>
            </a:r>
            <a:r>
              <a:rPr sz="850" b="1">
                <a:solidFill>
                  <a:srgbClr val="DC2626"/>
                </a:solidFill>
              </a:rPr>
              <a:t>[Market Inefficiency]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Scattered Platforms: Users juggle between job boards and social feeds.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Time Consuming: Repetitive manual profile uploads on external sites.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No Direct Connect: Job seekers cannot easily reach verified hiring managers.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LinkPro Solution: Single centralized platform for networking and 1-click apply.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2. High Latency &amp; Slow Feedback  </a:t>
            </a:r>
            <a:r>
              <a:rPr sz="850" b="1">
                <a:solidFill>
                  <a:srgbClr val="D97706"/>
                </a:solidFill>
              </a:rPr>
              <a:t>[Communication Barrier]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Asynchronous Delays: Traditional email communication takes days.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Lost Opportunities: Urgent referrals missed due to no instant messaging.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No Presence Tracking: Inability to check online availability of connections.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LinkPro Solution: Sub-second Socket.io private chat with read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3. Tier-2 / Tier-3 Accessibility Gap  </a:t>
            </a:r>
            <a:r>
              <a:rPr sz="850" b="1">
                <a:solidFill>
                  <a:srgbClr val="0A66C2"/>
                </a:solidFill>
              </a:rPr>
              <a:t>[Accessibility Gap]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Regional Isolation: Students in tier-2/3 cities struggle for metro recruiter reach.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Metro Bias: Existing platforms disproportionately promote metro executives.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Cost Barriers: Expensive premium subscription fees lock out fresh graduates.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LinkPro Solution: Equalized skill-first discovery with zero premium charges.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4. Feed Clutter &amp; Irrelevant Content  </a:t>
            </a:r>
            <a:r>
              <a:rPr sz="850" b="1">
                <a:solidFill>
                  <a:srgbClr val="7C3AED"/>
                </a:solidFill>
              </a:rPr>
              <a:t>[Content Fatigue]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Opaque Feeds: Feeds dominated by political arguments and viral spam.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No Relevance Filter: Users cannot easily prioritize mutual network content.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Fragile Queries: Legacy systems use brittle if-else database query blocks.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LinkPro Solution: Strategy Pattern feed ranking (Network, Admin, Public).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Project Objectives &amp; Scope Boundaries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Clear goals and deliverable boundaries defined in Section 1.5 &amp; 1.6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04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Core Objectives (Section 1.5)  </a:t>
            </a:r>
            <a:r>
              <a:rPr sz="850" b="1">
                <a:solidFill>
                  <a:srgbClr val="059669"/>
                </a:solidFill>
              </a:rPr>
              <a:t>[Objectives]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Easy Online Job Applications: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Streamline profile building and 1-click job applications.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Reduce candidate recruitment cycle from months to days.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Real-Time Professional Communication: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Sub-second bi-directional private chat via Socket.io.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Live notification badges for requests, likes, and comments.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Smart Multi-Criteria Search: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Intelligent filtering across skills, companies, roles, and location.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Maintainable &amp; Refactored Codebase: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Implement 9 GoF design patterns across MVC layers.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Strict adherence to SOLID principles to prevent God controllers.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Scope Demarcation (Section 1.6 &amp; 3.1.4)  </a:t>
            </a:r>
            <a:r>
              <a:rPr sz="850" b="1">
                <a:solidFill>
                  <a:srgbClr val="0A66C2"/>
                </a:solidFill>
              </a:rPr>
              <a:t>[Scope Matrix]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IN-SCOPE (Completed by 31-Oct-2026):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User Auth: Register, Login, JWT verification, OTP Password Reset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Profiles: Work Experience, Education, Skills, PDF Resume upload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Networking: Send, Accept, Reject, Pending Friend List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Newsfeed: Rich text, Cloudinary images, Likes &amp; Comments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Real-Time Chat: Private messaging thread with history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Jobs Portal: Post vacancies, search openings, track applicants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Admin Dashboard: User management and post moderation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OUT-OF-SCOPE (Documented for Future Roadmap):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Native iOS / Android apps (Fully responsive web app delivered)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WebRTC Video calling &amp; virtual interviews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Payment gateway integration for sponsored job postings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Existing vs. Proposed System Evaluation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Architectural comparison against legacy networking platforms (Section 1.2)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05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  <a:gridCol w="2499055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 /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Existing Platforms (LinkedIn / Naukri)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Proposed LinkPro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Architectural Gain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Real-Time Messaging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Asynchronous polling with high server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Full-duplex WebSocket channels via Socket.io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Sub-150ms instant chat; zero polling overhead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Content &amp; Feed Ranking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Opaque, ad-heavy blackbox algorithms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Strategy Pattern (Network, Admin, Public feeds)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Polymorphic, role-tailored feed delivery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Codebase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Monolithic controllers with tight service coupling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Decoupled 3-Tier MERN stack with 9 GoF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 cohesion, testability &amp; 65% cleaner controllers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Connection Lifecycle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Ad-hoc status strings allowing invalid jumps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Finite State Pattern (Pending, Connected, Blocked)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Strict relational integrity; zero illegal state leaps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Alert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Duplicated Mongoose calls scattered across controllers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Centralized Factory Method (NotificationFactory)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Open/Closed compliant; zero schema mutation bugs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Cost &amp; Accessibility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Heavy subscription fees for basic networking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Free, open-source stack tailored for learners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Zero licensing cost; accessible across Tier-2/3 cities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Project Charter &amp; Governance Summary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Formal project identification, MOV, and phase timeline ending 31 October 2026 (Section 3.1)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06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Project Baseline (Section 3.1)  </a:t>
            </a:r>
            <a:r>
              <a:rPr sz="850" b="1">
                <a:solidFill>
                  <a:srgbClr val="0A66C2"/>
                </a:solidFill>
              </a:rPr>
              <a:t>[Charter Baseline]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Project Title: LinkPro – Professional Networking Platform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Development Methodology: Agile Scrum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Project Duration: 01 August 2026 to 31 October 2026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Internal Guide: Prof. Rita Gokani  |  Institution: LJ University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Measurable Organizational Value (MOV):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Complete 100% core MVP modules within 15 sprints.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API response latency &lt; 300ms for 95% of endpoints.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Zero unhandled crashes in production Express server.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Real-time chat message propagation under 150ms.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Resource Allocation: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Free-tier MongoDB Atlas cluster &amp; Cloudinary CDN.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Open-source MERN stack; zero licensing overhead.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6304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005840"/>
                <a:gridCol w="10058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Phase (Section 3.1.5)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Planned Window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Completion Date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Milestone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Initiation &amp; Requirement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August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05-Aug-2026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Completed (Approved)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System Design &amp; Architecture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August 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09-Aug-2026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Completed (Approved)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Core Authentication &amp; 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August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31-Aug-2026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Completed (Approved)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Newsfeed, Sockets Chat &amp; Jobs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September 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30-Sep-2026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Completed (Approved)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Admin, QA &amp; UI Enhancement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October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21-Oct-2026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Completed (Approved)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SOLID &amp; GoF Pattern Refactoring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October 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28-Oct-2026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Completed (Approved)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Cloud Deployment &amp; Final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October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31-Oct-2026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Completed (Signed Off)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Project Lifecycle Model: Agile Scrum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Iterative sprint framework enabling continuous delivery and refactoring (Section 3.2)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07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1. Sprint Planning  </a:t>
            </a:r>
            <a:r>
              <a:rPr sz="850" b="1">
                <a:solidFill>
                  <a:srgbClr val="0A66C2"/>
                </a:solidFill>
              </a:rPr>
              <a:t>[Planning]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Backlog Management: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15 targeted sprints with clear milestones.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Story points estimated via modified Fibonacci.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Capacity Planning: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3 team members x 9 days = 27 person-days per sprint.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Goal Setting: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Defined 'Definition of Done' for each deliverable.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468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2. Daily Execution  </a:t>
            </a:r>
            <a:r>
              <a:rPr sz="850" b="1">
                <a:solidFill>
                  <a:srgbClr val="7C3AED"/>
                </a:solidFill>
              </a:rPr>
              <a:t>[Build]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Daily Standups: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15-minute daily sync on tasks and blockers.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Verified cross-tier API contracts.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Git Workflow: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Feature branch strategy with pull requests.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Automated linting via ESLint &amp; Prettier.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Continuous Builds: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Incremental frontend &amp; backend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468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3. Sprint Review  </a:t>
            </a:r>
            <a:r>
              <a:rPr sz="850" b="1">
                <a:solidFill>
                  <a:srgbClr val="059669"/>
                </a:solidFill>
              </a:rPr>
              <a:t>[Review]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Working Increments: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Functional demo presented to guide at end of each sprint cycle.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Stakeholder Alignment: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Immediate feedback incorporated into sprint backlog.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Acceptance Testing: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Features validated against Gherkin user stories.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6060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4. Retrospective  </a:t>
            </a:r>
            <a:r>
              <a:rPr sz="850" b="1">
                <a:solidFill>
                  <a:srgbClr val="D97706"/>
                </a:solidFill>
              </a:rPr>
              <a:t>[Refactor]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Inspect &amp; Adapt: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Evaluated velocity and code smells.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Code Smell Discovery: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Identified monolithic controllers in Sprint 12.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Refactoring Sprint 14: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Dedicated Sprint 14 (Oct 22-28) to apply 9 GoF patterns and SOLID principles.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Work Breakdown Structure (WBS)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Decomposition into 14 distinct engineering packages matching PDF Section 3.3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08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286000"/>
                <a:gridCol w="6035040"/>
                <a:gridCol w="1401775"/>
              </a:tblGrid>
              <a:tr h="31699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WBS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 Package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Activities &amp; Core Deliverables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Requirement Gathering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Define MOV, scope boundaries, feasibility study, and target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Project Setup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Configure React, Node.js, Express, MongoDB Atlas, and GitHub repo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User registration, bcrypt password hashing, JWT cookies, OTP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Profile Management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Profile schema, headline, skills, work experience, resume upload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Posts &amp; Feed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CRUD post operations, Cloudinary media upload, like/comment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Connections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State pattern friend lifecycle (Send, Accept, Reject, Friends list)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Chat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Socket.io real-time bidirectional private chat with conversation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Jobs Feature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Job posting schema, applicant management, 1-click job apply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Search &amp;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Regex search across users, posts, skills, companies, and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Notifications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Factory pattern notification triggers for likes, comments, and requests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 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Admin auth, platform analytics, user moderation, and post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Testing &amp; 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Postman API test collections, bug fixing, and integration checks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UI Improvement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Tailwind CSS responsive layouts, animation polish, and mobile guards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699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Cloud cluster configuration, environment variables, and final sign-off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Project Schedule &amp; Sprint Timeline (Gantt Chart)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15 Sprints spanning 01-Aug-2026 to 31-Oct-2026 (PDF Pages 21-24 &amp; 26-27)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09 / 21</a:t>
            </a:r>
          </a:p>
        </p:txBody>
      </p:sp>
      <p:pic>
        <p:nvPicPr>
          <p:cNvPr id="6" name="Picture 5" descr="gantt_schedul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7498079" cy="27384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304769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Timeline Highlights  </a:t>
            </a:r>
            <a:r>
              <a:rPr sz="850" b="1">
                <a:solidFill>
                  <a:srgbClr val="0A66C2"/>
                </a:solidFill>
              </a:rPr>
              <a:t>[Schedule Metrics]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Total Duration: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92 Calendar Days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01-Aug-2026 to 31-Oct-2026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Sprint Iterations (PDF p.23-24):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Sprints 1-2 (Aug 1 - Aug 9):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Requirements &amp; Dev Setup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Sprints 3-6 (Aug 10 - Sep 3):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Auth, Profiles &amp; Connections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Sprints 7-10 (Sep 4 - Oct 1):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Socket Chat, Jobs &amp; Alerts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Sprints 11-13 (Oct 2 - Oct 21):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Admin, Postman QA &amp; UI Polish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Sprint 14 (Oct 22 - Oct 28):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SOLID &amp; GoF Design Patterns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Sprint 15 (Oct 29 - Oct 31):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Cloud Deployment &amp; Sign-off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Milestone Result: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100% On-Time Completion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Jira / Scrum Board &amp; Backlog Tracking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Agile project configuration and issue tracking under project key LINKPRO (Section 6.8)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10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Jira Scrum Setup &amp; Epics (Table 64)  </a:t>
            </a:r>
            <a:r>
              <a:rPr sz="850" b="1">
                <a:solidFill>
                  <a:srgbClr val="0A66C2"/>
                </a:solidFill>
              </a:rPr>
              <a:t>[Jira Epics]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Project Key: LINKPRO  |  Board: LinkPro Scrum Board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Lead: Anand Yadav  |  Product Owner: Prof. Rita Gokani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Tracked Epics &amp; Completion (PDF p.63):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LINKPRO-1: User &amp; Profile Management (100% Done)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4/4 Stories: Auth, profile schema, resume upload.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LINKPRO-2: Networking &amp; Connections (100% Done)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5/5 Stories: Friend requests, accept/reject state.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LINKPRO-3: Newsfeed &amp; Content Engine (100% Done)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5/5 Stories: Post creation, Cloudinary, feed ranking.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LINKPRO-4: Real-Time Chat &amp; Alerts (100% Done)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4/4 Stories: Socket.io private chat, live badges.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LINKPRO-5: Job Portal &amp; Search (100% Done)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5/5 Stories: Job postings, keyword filtering.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LINKPRO-6: Quality, Patterns &amp; Docs (100% Done)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  5/5 Stories: SOLID refactoring, 9 GoF patterns, QA.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Featured Story Card: LINKPRO-16  </a:t>
            </a:r>
            <a:r>
              <a:rPr sz="850" b="1">
                <a:solidFill>
                  <a:srgbClr val="7C3AED"/>
                </a:solidFill>
              </a:rPr>
              <a:t>[Story Card]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Issue Key: LINKPRO-16  |  Type: Story  |  SP: 8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Summary: Dynamic Newsfeed Ranking via Strategy Pattern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Epic: LINKPRO-3 (Newsfeed &amp; Content Engine)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Priority: Highest  |  Status: Resolved / Done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User Story Formulation: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'As a registered user, I want my newsfeed to dynamically rank posts based on network connections and engagement, so that I receive relevant professional updates without ad clutter.'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Acceptance Criteria (Gherkin):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Chronological feed for unauthenticated visitors.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Network-weighted feed for logged-in connections.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Algorithms swappable polymorphically via Strategy Pattern.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Response latency remains under 250ms with DB indexing.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Risk Register &amp; Risk Management Matrix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Proactive risk assessment and mitigation strategies (PDF Section 3.9, Risks R-001 to R-010)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11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108960"/>
                <a:gridCol w="1188720"/>
                <a:gridCol w="822960"/>
                <a:gridCol w="3474720"/>
                <a:gridCol w="1218895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 Description &amp; Cause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Socket connection drops during live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Implemented heartbeat timeouts and automatic client reconnection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R-003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Feed query latency under high traffic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Created compound MongoDB indexes on {userId, createdAt} with pagination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JWT token tampering or unauthorized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Enforced HttpOnly cookies, 10 bcrypt salt rounds, and route guards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R-005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Cloudinary image upload timeouts on large files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Client-side image compression and buffered stream uploads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Cross-browser mobile layout inconsistencies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Tailwind CSS mobile-first utility classes and multi-device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R-007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Third-party SMTP email delivery failures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Adapter Pattern with fallback console logger for development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Resolved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System Architecture: Layered MERN Stack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Multi-tier decoupled architecture with Socket.IO and Cloudinary (PDF Figure 4.1)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12 / 21</a:t>
            </a:r>
          </a:p>
        </p:txBody>
      </p:sp>
      <p:pic>
        <p:nvPicPr>
          <p:cNvPr id="6" name="Picture 5" descr="linkpro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658368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63040"/>
            <a:ext cx="396209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Architectural Breakdown  </a:t>
            </a:r>
            <a:r>
              <a:rPr sz="850" b="1">
                <a:solidFill>
                  <a:srgbClr val="0A66C2"/>
                </a:solidFill>
              </a:rPr>
              <a:t>[3-Tier MERN]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Client Tier (React.js 18):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Vite, Tailwind CSS, Heroicons, Axios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Global Contexts: AuthContext, SocketState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Single Page Application (SPA) routing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Server Tier (Node.js &amp; Express):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RESTful API routes &amp; JWT Auth middleware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GoF Facade &amp; Strategy service orchestration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Centralized try-catch error handling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Real-Time Sockets Tier (Socket.IO):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Bi-directional WebSockets for live chat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Instant notification badge updates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Data Tier (MongoDB Atlas &amp; CDN):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Mongoose ODM with schema validations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Cloudinary CDN for profile &amp; post media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Email Service Adapter for Nodemailer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UML Modeling &amp; Structural Entities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Comprehensive UML design matching Section 4.3 to 4.6 of the project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13 / 21</a:t>
            </a:r>
          </a:p>
        </p:txBody>
      </p:sp>
      <p:pic>
        <p:nvPicPr>
          <p:cNvPr id="6" name="Picture 5" descr="LinkPro 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852160" cy="40529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463040"/>
            <a:ext cx="4693615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UML Models &amp; Rationale (Section 4)  </a:t>
            </a:r>
            <a:r>
              <a:rPr sz="850" b="1">
                <a:solidFill>
                  <a:srgbClr val="7C3AED"/>
                </a:solidFill>
              </a:rPr>
              <a:t>[UML Architecture]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1. Use Case Diagram (Figure 4.3):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Actors: Registered User, Recruiter, Administrator.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12 Use Cases: Profile, Posts, Connect, Chat, Jobs, Admin.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&lt;&lt;include&gt;&gt; Auth validation; &lt;&lt;extend&gt;&gt; Media upload.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2. Class Diagram (Figure 4.4 - Shown Left):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Core Models: User, Post, Comment, ConnectionRequest, Notification, Message, Conversation.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Clean relational references via Mongoose ObjectIds.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3. Sequence Diagram (Figures 4.5):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User Auth Flow: Credentials -&gt; Bcrypt -&gt; JWT cookie.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Post Creation &amp; Broadcast: Buffer -&gt; Cloudinary -&gt; DB -&gt; Socket alert in &lt; 150ms.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4. Activity Diagram (Figure 4.6):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End-to-end registration, verification, and feed browsing.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SOLID Principles &amp; Code Refactoring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Concrete refactorings REFACTOR-001 to REFACTOR-006 documented in Section 5.2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14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4114800"/>
                <a:gridCol w="2590495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Principle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Code Smell &amp; Location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Refactoring Applied in LinkPro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Impact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Single Responsibility (SRP)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REFACTOR-001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God Controller in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postController.js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Extracted PostFacade.js to isolate Cloudinary streaming, DB saving, and socket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Reduced postController complexity by 65%; clean HTTP delegation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Open / Closed (OCP)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REFACTOR-002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Shotgun Surgery in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notification triggers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Created NotificationFactory.js with creator subclasses for Like, Comment, and Requests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New notifications added without modifying existing controller methods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Liskov Substitution (LSP)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REFACTOR-006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Subtype Inconsistency in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BasePostContent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 decorators (Sanitizer, Hashtags) fully substitute BasePostContent without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Ensured polymorphic safety across post creation and feed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Interface Segregation (ISP)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REFACTOR-004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Monolithic connection script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 db.js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Separated connection pooling, health checks, and query indexes into discrete interfaces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Eliminated redundant open sockets; reduced server boot time by 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Dependency Inversion (DIP)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REFACTOR-006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Tight coupling to Nodemailer</a:t>
                      </a:r>
                    </a:p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 authController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Introduced EmailClientInterface with NodemailerAdapter and DevConsoleEmailAdapter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Decoupled SMTP transport; enabled mock adapter substitution for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Design Pattern Implementation (9 GoF Patterns)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Architectural design patterns implemented in LinkPro (PDF Section 6.1 to 6.6)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15 / 21</a:t>
            </a:r>
          </a:p>
        </p:txBody>
      </p:sp>
      <p:pic>
        <p:nvPicPr>
          <p:cNvPr id="6" name="Picture 5" descr="linkpro_uml_fa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63040"/>
            <a:ext cx="4693615" cy="35202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57607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1. Creational Patterns  </a:t>
            </a:r>
            <a:r>
              <a:rPr sz="850" b="1">
                <a:solidFill>
                  <a:srgbClr val="0A66C2"/>
                </a:solidFill>
              </a:rPr>
              <a:t>[Creational]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Singleton (DatabaseConnection.js): Shared Mongoose pool; zero socket leaks.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Factory Method (NotificationFactory.js): Instantiates Like/Comment alerts.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Builder (PostBuilder.js): Fluent step-by-step assembly of complex rich posts.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90672"/>
            <a:ext cx="57607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2. Structural Patterns  </a:t>
            </a:r>
            <a:r>
              <a:rPr sz="850" b="1">
                <a:solidFill>
                  <a:srgbClr val="7C3AED"/>
                </a:solidFill>
              </a:rPr>
              <a:t>[Structural]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Facade (PostFacade.js - Diagram Right): Coordinates media, DB &amp; alerts.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Adapter (EmailServiceAdapter.js): Decouples Nodemailer behind interface.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Decorator (PostDecorator.js): Enriches content with sanitization &amp; hashtags.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57607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3. Behavioral Patterns  </a:t>
            </a:r>
            <a:r>
              <a:rPr sz="850" b="1">
                <a:solidFill>
                  <a:srgbClr val="059669"/>
                </a:solidFill>
              </a:rPr>
              <a:t>[Behavioral]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Strategy (FeedStrategy.js): Swappable feed ranking (Network, Admin, Public).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State (ConnectionState.js): Enforces Pending -&gt; Connected lifecycle.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Observer (NotificationObserver.js): Decouples events from live socket broadcasts.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Testing Strategy &amp; Quality Assurance Results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Formal test suites executed across Google Chrome and Postman (PDF Section 6.7)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16 /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2926080"/>
                <a:gridCol w="2377440"/>
                <a:gridCol w="1737360"/>
                <a:gridCol w="670255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Module &amp; 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 Test Data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TC-101.1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Registration: Valid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Username: 'JohnDoe', Email: 'john@example.com', Password: 'Password123'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User registered successfully; bcrypt hash stored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User registered; token issued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TC-101.2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Registration: Duplicate Email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Email: 'john@example.com' (already exists)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 400 error: 'Username/Email already exists'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Error displayed; blocked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TC-101.3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Registration: Short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Password: 'pass' (&lt; 8 characters)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Validation error: 'Password must be &gt;= 8 chars'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Error displayed; 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TC-102.1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Authentication: Valid Login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Correct email &amp; password credentials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 200, JWT cookie issued, dashboard unlocked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Login successful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TC-102.2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Authentication: Invalid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Correct email, wrong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HTTP 401 error: 'Invalid credentials'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Error shown; access 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TC-103.1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Newsfeed: Create Post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 text + Cloudinary image 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PostFacade saves post; renders on newsfeed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Post created and visible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TC-104.1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Connections &amp; Sockets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User A sends friend request to User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State moves to Pending; live alert emitted to User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Notification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TC-104.2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Real-Time Chat: Message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User A sends message in private room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Message saved and delivered via Socket.io &lt; 150ms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Message rendered live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Live Demonstration &amp; Application Showcase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Live functional walkthrough of LinkPro web application (PDF Section 6.9)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18 / 21</a:t>
            </a:r>
          </a:p>
        </p:txBody>
      </p:sp>
      <p:pic>
        <p:nvPicPr>
          <p:cNvPr id="6" name="Picture 5" descr="Landing 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212080" cy="2286000"/>
          </a:xfrm>
          <a:prstGeom prst="rect">
            <a:avLst/>
          </a:prstGeom>
        </p:spPr>
      </p:pic>
      <p:pic>
        <p:nvPicPr>
          <p:cNvPr id="7" name="Picture 6" descr="post s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5212080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Live Demo Workflow Checklist  </a:t>
            </a:r>
            <a:r>
              <a:rPr sz="850" b="1">
                <a:solidFill>
                  <a:srgbClr val="059669"/>
                </a:solidFill>
              </a:rPr>
              <a:t>[Demo Flow]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1. User Authentication &amp; Session: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Secure registration with field validation.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JWT cookie storage and protected dashboard routing.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2. Professional Newsfeed &amp; Interaction: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Creating post with text and Cloudinary image upload.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Real-time like counter toggle &amp; nested comment thread.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Dynamic Strategy Pattern feed ranking in action.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3. Connections &amp; Networking Engine: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Searching profiles and sending connection requests.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State machine transition from Pending to Accepted.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4. Real-Time Chat &amp; Live Alerts: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Opening 1-to-1 chat drawer between active users.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Instant bi-directional message delivery (&lt; 150ms).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Real-time notification badge increment on navbar.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Future Scope &amp; Architectural Enhancements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Strategic product roadmap documented in Section 6.10 of the project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19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1. AI-Powered Resume Matching  </a:t>
            </a:r>
            <a:r>
              <a:rPr sz="850" b="1">
                <a:solidFill>
                  <a:srgbClr val="0A66C2"/>
                </a:solidFill>
              </a:rPr>
              <a:t>[AI / ML]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Semantic Embeddings: Leverage LLM embeddings to match candidate resumes to job descriptions.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Skill Gap Analysis: Recommend relevant courses based on missing job keywords.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2. WebRTC Video Interviews  </a:t>
            </a:r>
            <a:r>
              <a:rPr sz="850" b="1">
                <a:solidFill>
                  <a:srgbClr val="7C3AED"/>
                </a:solidFill>
              </a:rPr>
              <a:t>[Real-Time Media]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Peer-to-Peer Calling: Direct in-browser video interviews between recruiters and applicants.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Live Code Editor: Integrated code sandbox for real-time technical screening.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3. Native Mobile Applications  </a:t>
            </a:r>
            <a:r>
              <a:rPr sz="850" b="1">
                <a:solidFill>
                  <a:srgbClr val="059669"/>
                </a:solidFill>
              </a:rPr>
              <a:t>[Mobile Expansion]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React Native: Re-use core business logic and Redux stores for iOS and Android.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Push Notifications: FCM integration for instant mobile chat and connection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77639"/>
            <a:ext cx="52120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4. Recruiter ATS Analytics  </a:t>
            </a:r>
            <a:r>
              <a:rPr sz="850" b="1">
                <a:solidFill>
                  <a:srgbClr val="D97706"/>
                </a:solidFill>
              </a:rPr>
              <a:t>[Enterprise ATS]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Recruiter Dashboard: Track applicant funnels, time-to-hire, and job post engagement.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Automated ATS: Bulk candidate review, status pipelines, and interview scheduling.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Conclusion &amp; Project Summary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Formal closure and deliverables summary (PDF Section 6.11 &amp; 6.12)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133295" cy="62179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0A66C2"/>
                </a:solidFill>
                <a:latin typeface="Arial"/>
              </a:defRPr>
            </a:pPr>
            <a:r>
              <a:t>LinkPro | PMDP</a:t>
            </a:r>
          </a:p>
          <a:p>
            <a:pPr algn="ctr">
              <a:defRPr sz="900">
                <a:solidFill>
                  <a:srgbClr val="0F172A"/>
                </a:solidFill>
                <a:latin typeface="Arial"/>
              </a:defRPr>
            </a:pPr>
            <a:r>
              <a:t>Slide 20 / 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Project Deliverables Summary  </a:t>
            </a:r>
            <a:r>
              <a:rPr sz="850" b="1">
                <a:solidFill>
                  <a:srgbClr val="059669"/>
                </a:solidFill>
              </a:rPr>
              <a:t>[Deliverables]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Full-Stack MERN Platform: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100% of core networking modules delivered and deployed.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Responsive UI with Tailwind CSS and React 18 SPA.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Robust Engineering Standards: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9 GoF design patterns successfully refactored.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Strict SOLID compliance eliminating God controllers.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Quality Assurance Verification: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26 formal test steps recorded with full bug verification.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Postman API test collections established for regression.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Schedule Adherence: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Completed across 15 sprints by 31 October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>
              <a:defRPr sz="1250" b="1">
                <a:solidFill>
                  <a:srgbClr val="0F172A"/>
                </a:solidFill>
                <a:latin typeface="Arial"/>
              </a:defRPr>
            </a:pPr>
            <a:r>
              <a:t>Academic &amp; Technical Learnings  </a:t>
            </a:r>
            <a:r>
              <a:rPr sz="850" b="1">
                <a:solidFill>
                  <a:srgbClr val="0A66C2"/>
                </a:solidFill>
              </a:rPr>
              <a:t>[Learnings]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Agile Scrum Discipline: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Practiced time-boxed sprint planning, daily scrums, and retrospectives under PMDP guidelines.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Real-Time WebSocket Architecture: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Overcame connection leak challenges through Socket.io heartbeat management and room-based pub/sub.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Architectural Pattern Trade-offs: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Learned when to apply design patterns (Facade, Strategy, State) to solve real complexity without over-engineering.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endParaRPr/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• Project Sign-Off (PDF Section 6.11.8):</a:t>
            </a:r>
          </a:p>
          <a:p>
            <a:pPr>
              <a:spcBef>
                <a:spcPts val="350"/>
              </a:spcBef>
              <a:defRPr sz="950">
                <a:solidFill>
                  <a:srgbClr val="0F172A"/>
                </a:solidFill>
                <a:latin typeface="Arial"/>
              </a:defRPr>
            </a:pPr>
            <a:r>
              <a:t>  • Formally signed off on 31-10-2026 by Project Guide Prof. Rita Gokani.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000">
                <a:solidFill>
                  <a:srgbClr val="BAE6FD"/>
                </a:solidFill>
                <a:latin typeface="Arial"/>
              </a:defRPr>
            </a:pPr>
            <a:r>
              <a:t>Questions &amp; Individual Viva Technical Defense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LinkPro Networking Platform  |  Academic Year 2026  |  Final Sprint Completed: 31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Project Guidance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Prof. Rita Gokani (Project Guide)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Dr. Monica Gahalawat (HOD)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Prof. Alok Manke (Director)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L.J. University, Ahmedabad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38328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Development Team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Anand Yadav (22002501210066)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Smit Dutt (22002501210008)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Hardik Nakum (22002501210035)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Batch: B66 | IMCA Sem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38328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A6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400" b="1">
                <a:solidFill>
                  <a:srgbClr val="38BDF8"/>
                </a:solidFill>
                <a:latin typeface="Arial"/>
              </a:defRPr>
            </a:pPr>
            <a:r>
              <a:t>Project Artifacts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GitHub Codebase Repository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80+ Page PMDP Report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Jira Scrum LINKPRO Board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Postman API Test Suites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4433</Words>
  <Application>Microsoft Office PowerPoint</Application>
  <PresentationFormat>Widescreen</PresentationFormat>
  <Paragraphs>673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2026-10-28T12:12:02Z</dcterms:modified>
  <cp:category/>
</cp:coreProperties>
</file>