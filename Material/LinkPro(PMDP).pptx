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2" r:id="rId17"/>
    <p:sldId id="274" r:id="rId18"/>
    <p:sldId id="275" r:id="rId19"/>
    <p:sldId id="276" r:id="rId20"/>
  </p:sldIdLst>
  <p:sldSz cx="12192000" cy="6858000"/>
  <p:notesSz cx="6858000" cy="12192000"/>
  <p:embeddedFontLst>
    <p:embeddedFont>
      <p:font typeface="IBM Plex Sans" panose="020B0604020202020204" charset="0"/>
      <p:regular r:id="rId22"/>
    </p:embeddedFont>
    <p:embeddedFont>
      <p:font typeface="IBM Plex Sans SemiBold" panose="020B0604020202020204" charset="0"/>
      <p:regular r:id="rId23"/>
    </p:embeddedFont>
    <p:embeddedFont>
      <p:font typeface="IBM Plex Sans Bold" panose="020B0604020202020204" charset="0"/>
      <p:regular r:id="rId24"/>
    </p:embeddedFont>
    <p:embeddedFont>
      <p:font typeface="Sora Bold" panose="020B0604020202020204" charset="0"/>
      <p:regular r:id="rId25"/>
    </p:embeddedFont>
    <p:embeddedFont>
      <p:font typeface="Calibri" panose="020F0502020204030204" pitchFamily="34" charset="0"/>
      <p:regular r:id="rId26"/>
      <p:bold r:id="rId27"/>
      <p:italic r:id="rId28"/>
      <p:boldItalic r:id="rId2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48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3095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LinkPro against existing platforms focusing on WebSockets, GoF patterns, and zero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2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ED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2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783" y="567880"/>
            <a:ext cx="11429714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  <a:defRPr sz="1100">
                <a:solidFill>
                  <a:srgbClr val="0A7C78"/>
                </a:solidFill>
                <a:latin typeface="IBM Plex Sans SemiBold"/>
              </a:defRPr>
            </a:pPr>
            <a:r>
              <a:rPr lang="en-US" sz="1100" kern="100" spc="60" dirty="0">
                <a:solidFill>
                  <a:srgbClr val="0A7C78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LJ UNIVERSITY · PMDP 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783" y="1097062"/>
            <a:ext cx="10820129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  <a:defRPr sz="5600" b="1">
                <a:solidFill>
                  <a:srgbClr val="10201D"/>
                </a:solidFill>
                <a:latin typeface="Sora Bold"/>
              </a:defRPr>
            </a:pPr>
            <a:r>
              <a:rPr lang="en-US" sz="5600" b="1" kern="100" spc="-140" dirty="0">
                <a:solidFill>
                  <a:srgbClr val="10201D"/>
                </a:solidFill>
                <a:latin typeface="Sora Bold" pitchFamily="34" charset="0"/>
                <a:ea typeface="Sora Bold" pitchFamily="34" charset="-122"/>
                <a:cs typeface="Sora Bold" pitchFamily="34" charset="0"/>
              </a:rPr>
              <a:t>LinkPro</a:t>
            </a:r>
            <a:endParaRPr lang="en-US" sz="5600" dirty="0"/>
          </a:p>
          <a:p>
            <a:pPr marL="0" indent="0" algn="l">
              <a:lnSpc>
                <a:spcPct val="83000"/>
              </a:lnSpc>
              <a:buNone/>
              <a:defRPr sz="5600" b="1">
                <a:solidFill>
                  <a:srgbClr val="0A7C78"/>
                </a:solidFill>
                <a:latin typeface="Sora Bold"/>
              </a:defRPr>
            </a:pPr>
            <a:r>
              <a:rPr lang="en-US" sz="5600" b="1" kern="100" spc="-140" dirty="0">
                <a:solidFill>
                  <a:srgbClr val="0A7C78"/>
                </a:solidFill>
                <a:latin typeface="Sora Bold" pitchFamily="34" charset="0"/>
                <a:ea typeface="Sora Bold" pitchFamily="34" charset="-122"/>
                <a:cs typeface="Sora Bold" pitchFamily="34" charset="0"/>
              </a:rPr>
              <a:t>Networking Platform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685783" y="2698024"/>
            <a:ext cx="10820129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  <a:defRPr sz="1700">
                <a:solidFill>
                  <a:srgbClr val="10201D"/>
                </a:solidFill>
                <a:latin typeface="IBM Plex Sans"/>
              </a:defRPr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A MERN-Stack Professional Career Networking &amp; Real-Time Collaboration Ecosystem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85783" y="3926384"/>
            <a:ext cx="3505112" cy="1210171"/>
          </a:xfrm>
          <a:prstGeom prst="rect">
            <a:avLst/>
          </a:prstGeom>
          <a:solidFill>
            <a:srgbClr val="164D45"/>
          </a:solidFill>
          <a:ln/>
        </p:spPr>
        <p:txBody>
          <a:bodyPr/>
          <a:lstStyle/>
          <a:p>
            <a:endParaRPr dirty="0"/>
          </a:p>
        </p:txBody>
      </p:sp>
      <p:sp>
        <p:nvSpPr>
          <p:cNvPr id="6" name="Text 4"/>
          <p:cNvSpPr/>
          <p:nvPr/>
        </p:nvSpPr>
        <p:spPr>
          <a:xfrm>
            <a:off x="888978" y="4114471"/>
            <a:ext cx="3098722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IBM Plex Sans SemiBold"/>
              </a:defRPr>
            </a:pPr>
            <a:r>
              <a:rPr lang="en-US" sz="1800" b="1" dirty="0">
                <a:solidFill>
                  <a:srgbClr val="FFFFFF"/>
                </a:solidFill>
                <a:latin typeface="IBM Plex Sans SemiBold" pitchFamily="34" charset="0"/>
                <a:ea typeface="IBM Plex Sans" pitchFamily="34" charset="-122"/>
                <a:cs typeface="IBM Plex Sans" pitchFamily="34" charset="0"/>
              </a:rPr>
              <a:t>Anand Yadav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88978" y="4596344"/>
            <a:ext cx="3098722" cy="368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0000"/>
              </a:lnSpc>
              <a:buNone/>
              <a:defRPr sz="1100">
                <a:solidFill>
                  <a:srgbClr val="DCE4DD"/>
                </a:solidFill>
                <a:latin typeface="IBM Plex Sans"/>
              </a:defRPr>
            </a:pPr>
            <a:r>
              <a:rPr lang="en-US" sz="1100" dirty="0">
                <a:solidFill>
                  <a:srgbClr val="DCE4D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Backend Developer &amp; Database Architect</a:t>
            </a:r>
            <a:endParaRPr lang="en-US" sz="1100" dirty="0"/>
          </a:p>
          <a:p>
            <a:pPr marL="0" indent="0" algn="l">
              <a:lnSpc>
                <a:spcPct val="110000"/>
              </a:lnSpc>
              <a:buNone/>
              <a:defRPr sz="1100">
                <a:solidFill>
                  <a:srgbClr val="DCE4DD"/>
                </a:solidFill>
                <a:latin typeface="IBM Plex Sans"/>
              </a:defRPr>
            </a:pPr>
            <a:r>
              <a:rPr lang="en-US" sz="1100" dirty="0">
                <a:solidFill>
                  <a:srgbClr val="DCE4D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22002501210066 · Roll B66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291" y="3926384"/>
            <a:ext cx="3505112" cy="1210171"/>
          </a:xfrm>
          <a:prstGeom prst="rect">
            <a:avLst/>
          </a:prstGeom>
          <a:solidFill>
            <a:srgbClr val="164D45"/>
          </a:solidFill>
          <a:ln/>
        </p:spPr>
        <p:txBody>
          <a:bodyPr/>
          <a:lstStyle/>
          <a:p>
            <a:endParaRPr dirty="0"/>
          </a:p>
        </p:txBody>
      </p:sp>
      <p:sp>
        <p:nvSpPr>
          <p:cNvPr id="9" name="Text 7"/>
          <p:cNvSpPr/>
          <p:nvPr/>
        </p:nvSpPr>
        <p:spPr>
          <a:xfrm>
            <a:off x="4546486" y="4114471"/>
            <a:ext cx="3098722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IBM Plex Sans SemiBold"/>
              </a:defRPr>
            </a:pPr>
            <a:r>
              <a:rPr lang="en-US" sz="1800" b="1" dirty="0">
                <a:solidFill>
                  <a:srgbClr val="FFFFFF"/>
                </a:solidFill>
                <a:latin typeface="IBM Plex Sans SemiBold" pitchFamily="34" charset="0"/>
                <a:ea typeface="IBM Plex Sans" pitchFamily="34" charset="-122"/>
                <a:cs typeface="IBM Plex Sans" pitchFamily="34" charset="0"/>
              </a:rPr>
              <a:t>Smit Dutt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46486" y="4596344"/>
            <a:ext cx="3098722" cy="368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0000"/>
              </a:lnSpc>
              <a:buNone/>
              <a:defRPr sz="1100">
                <a:solidFill>
                  <a:srgbClr val="DCE4DD"/>
                </a:solidFill>
                <a:latin typeface="IBM Plex Sans"/>
              </a:defRPr>
            </a:pPr>
            <a:r>
              <a:rPr lang="en-US" sz="1100" dirty="0">
                <a:solidFill>
                  <a:srgbClr val="DCE4D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Frontend Developer &amp; UI/UX Architect</a:t>
            </a:r>
            <a:endParaRPr lang="en-US" sz="1100" dirty="0"/>
          </a:p>
          <a:p>
            <a:pPr marL="0" indent="0" algn="l">
              <a:lnSpc>
                <a:spcPct val="110000"/>
              </a:lnSpc>
              <a:buNone/>
              <a:defRPr sz="1100">
                <a:solidFill>
                  <a:srgbClr val="DCE4DD"/>
                </a:solidFill>
                <a:latin typeface="IBM Plex Sans"/>
              </a:defRPr>
            </a:pPr>
            <a:r>
              <a:rPr lang="en-US" sz="1100" dirty="0">
                <a:solidFill>
                  <a:srgbClr val="DCE4D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22002501210008 · Roll B09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00800" y="3926384"/>
            <a:ext cx="3505112" cy="1210171"/>
          </a:xfrm>
          <a:prstGeom prst="rect">
            <a:avLst/>
          </a:prstGeom>
          <a:solidFill>
            <a:srgbClr val="164D45"/>
          </a:solidFill>
          <a:ln/>
        </p:spPr>
        <p:txBody>
          <a:bodyPr/>
          <a:lstStyle/>
          <a:p>
            <a:endParaRPr dirty="0"/>
          </a:p>
        </p:txBody>
      </p:sp>
      <p:sp>
        <p:nvSpPr>
          <p:cNvPr id="12" name="Text 10"/>
          <p:cNvSpPr/>
          <p:nvPr/>
        </p:nvSpPr>
        <p:spPr>
          <a:xfrm>
            <a:off x="8203995" y="4114471"/>
            <a:ext cx="3098722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IBM Plex Sans SemiBold"/>
              </a:defRPr>
            </a:pPr>
            <a:r>
              <a:rPr lang="en-US" sz="1800" b="1" dirty="0">
                <a:solidFill>
                  <a:srgbClr val="FFFFFF"/>
                </a:solidFill>
                <a:latin typeface="IBM Plex Sans SemiBold" pitchFamily="34" charset="0"/>
                <a:ea typeface="IBM Plex Sans" pitchFamily="34" charset="-122"/>
                <a:cs typeface="IBM Plex Sans" pitchFamily="34" charset="0"/>
              </a:rPr>
              <a:t>Hardik Nakum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03995" y="4596344"/>
            <a:ext cx="3098722" cy="368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0000"/>
              </a:lnSpc>
              <a:buNone/>
              <a:defRPr sz="1100">
                <a:solidFill>
                  <a:srgbClr val="DCE4DD"/>
                </a:solidFill>
                <a:latin typeface="IBM Plex Sans"/>
              </a:defRPr>
            </a:pPr>
            <a:r>
              <a:rPr lang="en-US" sz="1100" dirty="0">
                <a:solidFill>
                  <a:srgbClr val="DCE4D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QA, Testing Lead &amp; Documentation</a:t>
            </a:r>
            <a:endParaRPr lang="en-US" sz="1100" dirty="0"/>
          </a:p>
          <a:p>
            <a:pPr marL="0" indent="0" algn="l">
              <a:lnSpc>
                <a:spcPct val="110000"/>
              </a:lnSpc>
              <a:buNone/>
              <a:defRPr sz="1100">
                <a:solidFill>
                  <a:srgbClr val="DCE4DD"/>
                </a:solidFill>
                <a:latin typeface="IBM Plex Sans"/>
              </a:defRPr>
            </a:pPr>
            <a:r>
              <a:rPr lang="en-US" sz="1100" dirty="0">
                <a:solidFill>
                  <a:srgbClr val="DCE4D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22002501210035 · Roll B32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783" y="5365155"/>
            <a:ext cx="10820129" cy="1010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1750"/>
              </a:spcAft>
              <a:buNone/>
              <a:defRPr sz="1100">
                <a:solidFill>
                  <a:srgbClr val="5F6D68"/>
                </a:solidFill>
                <a:latin typeface="IBM Plex Sans"/>
              </a:defRPr>
            </a:pPr>
            <a:r>
              <a:rPr lang="en-US" sz="1100" dirty="0">
                <a:solidFill>
                  <a:srgbClr val="5F6D68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Project Management &amp; Development Practices (PMDP) · </a:t>
            </a:r>
            <a:endParaRPr lang="en-US" sz="1100" dirty="0" smtClean="0">
              <a:solidFill>
                <a:srgbClr val="5F6D68"/>
              </a:solidFill>
              <a:latin typeface="IBM Plex Sans" pitchFamily="34" charset="0"/>
              <a:ea typeface="IBM Plex Sans" pitchFamily="34" charset="-122"/>
              <a:cs typeface="IBM Plex Sans" pitchFamily="34" charset="0"/>
            </a:endParaRPr>
          </a:p>
          <a:p>
            <a:pPr marL="0" indent="0" algn="l">
              <a:lnSpc>
                <a:spcPct val="110000"/>
              </a:lnSpc>
              <a:spcAft>
                <a:spcPts val="1750"/>
              </a:spcAft>
              <a:buNone/>
              <a:defRPr sz="1100">
                <a:solidFill>
                  <a:srgbClr val="5F6D68"/>
                </a:solidFill>
                <a:latin typeface="IBM Plex Sans"/>
              </a:defRPr>
            </a:pPr>
            <a:r>
              <a:rPr lang="en-US" sz="1100" dirty="0" smtClean="0">
                <a:solidFill>
                  <a:srgbClr val="5F6D68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L.J</a:t>
            </a:r>
            <a:r>
              <a:rPr lang="en-US" sz="1100" dirty="0">
                <a:solidFill>
                  <a:srgbClr val="5F6D68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. School of Computer Applications · LJ University, Ahmedabad · Semester 9 (IMCA)</a:t>
            </a:r>
            <a:endParaRPr lang="en-US" sz="1100" dirty="0"/>
          </a:p>
          <a:p>
            <a:pPr marL="0" indent="0" algn="l">
              <a:lnSpc>
                <a:spcPct val="110000"/>
              </a:lnSpc>
              <a:buNone/>
              <a:defRPr sz="1100">
                <a:solidFill>
                  <a:srgbClr val="0A7C78"/>
                </a:solidFill>
                <a:latin typeface="IBM Plex Sans SemiBold"/>
              </a:defRPr>
            </a:pPr>
            <a:r>
              <a:rPr lang="en-US" sz="1100" dirty="0">
                <a:solidFill>
                  <a:srgbClr val="0A7C78"/>
                </a:solidFill>
                <a:latin typeface="IBM Plex Sans SemiBold" pitchFamily="34" charset="0"/>
                <a:ea typeface="IBM Plex Sans" pitchFamily="34" charset="-122"/>
                <a:cs typeface="IBM Plex Sans" pitchFamily="34" charset="0"/>
              </a:rPr>
              <a:t>Internal Guide: Prof. Rita Gokani · HOD: Dr. Monica Gahalawat · Director: Prof. Alok Manke</a:t>
            </a:r>
            <a:endParaRPr lang="en-US" sz="1100" dirty="0"/>
          </a:p>
        </p:txBody>
      </p:sp>
      <p:sp>
        <p:nvSpPr>
          <p:cNvPr id="15" name="Oval 14"/>
          <p:cNvSpPr/>
          <p:nvPr/>
        </p:nvSpPr>
        <p:spPr>
          <a:xfrm>
            <a:off x="11036174" y="6538607"/>
            <a:ext cx="1237307" cy="31089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6280"/>
            <a:ext cx="11734506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00" kern="100" spc="60" dirty="0">
                <a:solidFill>
                  <a:srgbClr val="0A7C78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01 · OWNERSHIP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189" y="765147"/>
            <a:ext cx="11277318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b="1" kern="100" spc="-68" dirty="0">
                <a:solidFill>
                  <a:srgbClr val="10201D"/>
                </a:solidFill>
                <a:latin typeface="Sora Bold" pitchFamily="34" charset="0"/>
                <a:ea typeface="Sora Bold" pitchFamily="34" charset="-122"/>
                <a:cs typeface="Sora Bold" pitchFamily="34" charset="0"/>
              </a:rPr>
              <a:t>Three engineering owners, one integrated platform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189" y="1450110"/>
            <a:ext cx="11277318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Responsibilities follow the architecture: data and services, product experience, then verification and delivery evidence.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0" y="2594719"/>
            <a:ext cx="3860703" cy="3282454"/>
          </a:xfrm>
          <a:prstGeom prst="rect">
            <a:avLst/>
          </a:prstGeom>
          <a:solidFill>
            <a:srgbClr val="083C35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594" y="2815164"/>
            <a:ext cx="431789" cy="431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594" y="3348711"/>
            <a:ext cx="3403515" cy="402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Anand Yadav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228594" y="3751043"/>
            <a:ext cx="3403515" cy="368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Backend &amp; Database 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28593" y="4221191"/>
            <a:ext cx="3403515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Node.js, Express RESTful APIs, MongoDB schema design, Mongoose indexing, JWT, bcrypt, Singleton Database Manager, PostFacade, NotificationFactory.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089297" y="2594719"/>
            <a:ext cx="3860703" cy="3282454"/>
          </a:xfrm>
          <a:prstGeom prst="rect">
            <a:avLst/>
          </a:prstGeom>
          <a:solidFill>
            <a:srgbClr val="083C35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5448" y="2815164"/>
            <a:ext cx="431789" cy="4318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17890" y="3349357"/>
            <a:ext cx="3403515" cy="402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Smit Dutt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4330104" y="3751043"/>
            <a:ext cx="3632109" cy="184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Frontend &amp; UI/UX 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317889" y="4119740"/>
            <a:ext cx="3403515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React 18 SPA architecture, Tailwind CSS, Socket.io client, dynamic Feed Strategy Pattern, and Connection lifecycle State Pattern UI.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8203020" y="2594719"/>
            <a:ext cx="3860703" cy="3282454"/>
          </a:xfrm>
          <a:prstGeom prst="rect">
            <a:avLst/>
          </a:prstGeom>
          <a:solidFill>
            <a:srgbClr val="083C35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9998" y="2815164"/>
            <a:ext cx="431789" cy="4318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59998" y="3355049"/>
            <a:ext cx="3403515" cy="402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Hardik Nakum</a:t>
            </a:r>
            <a:endParaRPr lang="en-US" sz="2400" dirty="0"/>
          </a:p>
        </p:txBody>
      </p:sp>
      <p:sp>
        <p:nvSpPr>
          <p:cNvPr id="18" name="Text 13"/>
          <p:cNvSpPr/>
          <p:nvPr/>
        </p:nvSpPr>
        <p:spPr>
          <a:xfrm>
            <a:off x="8431614" y="3754354"/>
            <a:ext cx="3632109" cy="184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QA &amp; </a:t>
            </a:r>
            <a:r>
              <a:rPr lang="en-US" sz="1100" dirty="0" smtClean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Documentation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8431614" y="4117262"/>
            <a:ext cx="3403515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Postman API test collection, 26 formal test cases, Jira Scrum tracking, velocity burndown, GoF pattern verification, and the 80-page PMDP report.</a:t>
            </a:r>
            <a:endParaRPr lang="en-US" sz="1400" dirty="0"/>
          </a:p>
        </p:txBody>
      </p:sp>
      <p:sp>
        <p:nvSpPr>
          <p:cNvPr id="20" name="Oval 19"/>
          <p:cNvSpPr/>
          <p:nvPr/>
        </p:nvSpPr>
        <p:spPr>
          <a:xfrm>
            <a:off x="10954693" y="6547104"/>
            <a:ext cx="1237307" cy="31089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6280"/>
            <a:ext cx="11734506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00" kern="100" spc="60" dirty="0">
                <a:solidFill>
                  <a:srgbClr val="0A7C78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02 · PROBLEM DEFINITION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189" y="765147"/>
            <a:ext cx="11277318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b="1" kern="100" spc="-68" dirty="0">
                <a:solidFill>
                  <a:srgbClr val="10201D"/>
                </a:solidFill>
                <a:latin typeface="Sora Bold" pitchFamily="34" charset="0"/>
                <a:ea typeface="Sora Bold" pitchFamily="34" charset="-122"/>
                <a:cs typeface="Sora Bold" pitchFamily="34" charset="0"/>
              </a:rPr>
              <a:t>LinkPro addresses four connected market inefficiencies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189" y="1907806"/>
            <a:ext cx="11734506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The platform consolidates discovery, communication, access, and relevance into one skill-first professional network.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0" y="2961084"/>
            <a:ext cx="5943451" cy="1796157"/>
          </a:xfrm>
          <a:prstGeom prst="rect">
            <a:avLst/>
          </a:prstGeom>
          <a:solidFill>
            <a:srgbClr val="E5E9DA"/>
          </a:solidFill>
          <a:ln/>
        </p:spPr>
      </p:sp>
      <p:sp>
        <p:nvSpPr>
          <p:cNvPr id="6" name="Text 4"/>
          <p:cNvSpPr/>
          <p:nvPr/>
        </p:nvSpPr>
        <p:spPr>
          <a:xfrm>
            <a:off x="152396" y="3127200"/>
            <a:ext cx="5638659" cy="402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Fragmented job searching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52396" y="3705300"/>
            <a:ext cx="5638659" cy="490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Users juggle job boards and social feeds, repeatedly upload profiles, and cannot easily reach verified hiring managers.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2396" y="4425390"/>
            <a:ext cx="5791055" cy="184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083C35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Response:</a:t>
            </a:r>
            <a:r>
              <a:rPr lang="en-US" sz="1100" dirty="0">
                <a:solidFill>
                  <a:srgbClr val="5F6D68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 </a:t>
            </a:r>
            <a:r>
              <a:rPr lang="en-US" sz="1100" dirty="0">
                <a:solidFill>
                  <a:srgbClr val="4F5B56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Centralized networking and 1-click apply.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48244" y="2961084"/>
            <a:ext cx="5943451" cy="1796157"/>
          </a:xfrm>
          <a:prstGeom prst="rect">
            <a:avLst/>
          </a:prstGeom>
          <a:solidFill>
            <a:srgbClr val="E5E9D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640" y="3127200"/>
            <a:ext cx="5638659" cy="402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High latency &amp; slow feedback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400640" y="3705300"/>
            <a:ext cx="5638659" cy="490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Email delays cause missed referrals, while traditional systems provide no presence tracking or instant messaging.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640" y="4425390"/>
            <a:ext cx="5791055" cy="184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083C35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Response:</a:t>
            </a:r>
            <a:r>
              <a:rPr lang="en-US" sz="1100" dirty="0">
                <a:solidFill>
                  <a:srgbClr val="5F6D68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 </a:t>
            </a:r>
            <a:r>
              <a:rPr lang="en-US" sz="1100" dirty="0">
                <a:solidFill>
                  <a:srgbClr val="4F5B56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Sub-second Socket.io private chat with read receipts.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5061942"/>
            <a:ext cx="5943451" cy="1796058"/>
          </a:xfrm>
          <a:prstGeom prst="rect">
            <a:avLst/>
          </a:prstGeom>
          <a:solidFill>
            <a:srgbClr val="E5E9DA"/>
          </a:solidFill>
          <a:ln/>
        </p:spPr>
      </p:sp>
      <p:sp>
        <p:nvSpPr>
          <p:cNvPr id="14" name="Text 12"/>
          <p:cNvSpPr/>
          <p:nvPr/>
        </p:nvSpPr>
        <p:spPr>
          <a:xfrm>
            <a:off x="152396" y="5228058"/>
            <a:ext cx="5638659" cy="402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Tier-2 / Tier-3 accessibility gap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52396" y="5806158"/>
            <a:ext cx="5638659" cy="490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Regional users struggle for metro recruiter reach, face metro bias, and are excluded by premium subscription fees.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2396" y="6526248"/>
            <a:ext cx="5791055" cy="184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083C35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Response:</a:t>
            </a:r>
            <a:r>
              <a:rPr lang="en-US" sz="1100" dirty="0">
                <a:solidFill>
                  <a:srgbClr val="5F6D68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 </a:t>
            </a:r>
            <a:r>
              <a:rPr lang="en-US" sz="1100" dirty="0">
                <a:solidFill>
                  <a:srgbClr val="4F5B56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Skill-first discovery with zero premium charges.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48244" y="5061942"/>
            <a:ext cx="5943451" cy="1796058"/>
          </a:xfrm>
          <a:prstGeom prst="rect">
            <a:avLst/>
          </a:prstGeom>
          <a:solidFill>
            <a:srgbClr val="E5E9D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640" y="5228058"/>
            <a:ext cx="5638659" cy="402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Feed clutter &amp; irrelevant content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400640" y="5806158"/>
            <a:ext cx="5638659" cy="490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Political arguments, viral spam, and brittle query logic make it difficult to prioritize relevant network content.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640" y="6526248"/>
            <a:ext cx="5791055" cy="184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083C35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Response:</a:t>
            </a:r>
            <a:r>
              <a:rPr lang="en-US" sz="1100" dirty="0">
                <a:solidFill>
                  <a:srgbClr val="5F6D68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 </a:t>
            </a:r>
            <a:r>
              <a:rPr lang="en-US" sz="1100" dirty="0">
                <a:solidFill>
                  <a:srgbClr val="4F5B56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Strategy Pattern ranking for Network, Admin, and Public feeds.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6280"/>
            <a:ext cx="11734506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00" kern="100" spc="60" dirty="0">
                <a:solidFill>
                  <a:srgbClr val="0A7C78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03 · OBJECTIVES &amp; BOUNDARIES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189" y="765147"/>
            <a:ext cx="11277318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b="1" kern="100" spc="-68" dirty="0">
                <a:solidFill>
                  <a:srgbClr val="10201D"/>
                </a:solidFill>
                <a:latin typeface="Sora Bold" pitchFamily="34" charset="0"/>
                <a:ea typeface="Sora Bold" pitchFamily="34" charset="-122"/>
                <a:cs typeface="Sora Bold" pitchFamily="34" charset="0"/>
              </a:rPr>
              <a:t>Core networking MVP completed by 31-Oct-2026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0" y="2167632"/>
            <a:ext cx="6735991" cy="4690368"/>
          </a:xfrm>
          <a:prstGeom prst="rect">
            <a:avLst/>
          </a:prstGeom>
          <a:solidFill>
            <a:srgbClr val="083C35"/>
          </a:solidFill>
          <a:ln/>
        </p:spPr>
      </p:sp>
      <p:sp>
        <p:nvSpPr>
          <p:cNvPr id="5" name="Text 3"/>
          <p:cNvSpPr/>
          <p:nvPr/>
        </p:nvSpPr>
        <p:spPr>
          <a:xfrm>
            <a:off x="304792" y="2282948"/>
            <a:ext cx="6126406" cy="402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Core objectives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04792" y="2855714"/>
            <a:ext cx="6126406" cy="25733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15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Streamline profile building and 1-click job applications; reduce candidate recruitment cycle from months to days.</a:t>
            </a:r>
            <a:endParaRPr lang="en-US" sz="1700" dirty="0"/>
          </a:p>
          <a:p>
            <a:pPr marL="345440" indent="-345440" algn="l">
              <a:lnSpc>
                <a:spcPct val="115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Sub-second bi-directional private chat via Socket.io; live notification badges for requests, likes, and comments.</a:t>
            </a:r>
            <a:endParaRPr lang="en-US" sz="1700" dirty="0"/>
          </a:p>
          <a:p>
            <a:pPr marL="345440" indent="-345440" algn="l">
              <a:lnSpc>
                <a:spcPct val="115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Smart multi-criteria search across skills, companies, roles, and location.</a:t>
            </a:r>
            <a:endParaRPr lang="en-US" sz="1700" dirty="0"/>
          </a:p>
          <a:p>
            <a:pPr marL="345440" indent="-345440" algn="l">
              <a:lnSpc>
                <a:spcPct val="115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9 GoF design patterns across MVC layers; SOLID principles prevent God controllers.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040684" y="2167632"/>
            <a:ext cx="5151011" cy="4690368"/>
          </a:xfrm>
          <a:prstGeom prst="rect">
            <a:avLst/>
          </a:prstGeom>
          <a:solidFill>
            <a:srgbClr val="E5E9DA"/>
          </a:solidFill>
          <a:ln/>
        </p:spPr>
      </p:sp>
      <p:sp>
        <p:nvSpPr>
          <p:cNvPr id="8" name="Text 6"/>
          <p:cNvSpPr/>
          <p:nvPr/>
        </p:nvSpPr>
        <p:spPr>
          <a:xfrm>
            <a:off x="7269278" y="2282948"/>
            <a:ext cx="4693822" cy="402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Scope matrix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269278" y="2864794"/>
            <a:ext cx="4922417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00" kern="100" spc="60" dirty="0">
                <a:solidFill>
                  <a:srgbClr val="083C35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IN SCOPE · COMPLETED BY 31-OCT-2026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269278" y="3262785"/>
            <a:ext cx="4693822" cy="1716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User auth—register/login, JWT verification, OTP password reset; profiles—work experience, education, skills, PDF resume upload; networking—send/accept/reject, pending friend list; newsfeed—rich text, Cloudinary images, likes/comments; real-time private chat with history; jobs portal—post vacancies, search openings, track applicants; admin dashboard—user management, post moderation.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269278" y="5255320"/>
            <a:ext cx="4693723" cy="31651"/>
          </a:xfrm>
          <a:prstGeom prst="roundRect">
            <a:avLst>
              <a:gd name="adj" fmla="val 49998"/>
            </a:avLst>
          </a:prstGeom>
          <a:solidFill>
            <a:srgbClr val="CBD4CE"/>
          </a:solidFill>
          <a:ln/>
        </p:spPr>
      </p:sp>
      <p:sp>
        <p:nvSpPr>
          <p:cNvPr id="12" name="Text 10"/>
          <p:cNvSpPr/>
          <p:nvPr/>
        </p:nvSpPr>
        <p:spPr>
          <a:xfrm>
            <a:off x="7269278" y="5577137"/>
            <a:ext cx="4922417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00" kern="100" spc="60" dirty="0">
                <a:solidFill>
                  <a:srgbClr val="083C35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OUT OF SCOPE · FUTURE ROADMAP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269278" y="5975128"/>
            <a:ext cx="4693822" cy="735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Native iOS / Android apps (fully responsive web app delivered); WebRTC video calling &amp; virtual interviews; payment gateway integration for sponsored job postings.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6280"/>
            <a:ext cx="11734506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00" kern="100" spc="60" dirty="0">
                <a:solidFill>
                  <a:srgbClr val="0A7C78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04 · SYSTEM EVALUATION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189" y="765147"/>
            <a:ext cx="11277318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b="1" kern="100" spc="-68" dirty="0">
                <a:solidFill>
                  <a:srgbClr val="10201D"/>
                </a:solidFill>
                <a:latin typeface="Sora Bold" pitchFamily="34" charset="0"/>
                <a:ea typeface="Sora Bold" pitchFamily="34" charset="-122"/>
                <a:cs typeface="Sora Bold" pitchFamily="34" charset="0"/>
              </a:rPr>
              <a:t>LinkPro replaces fragmented interaction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189" y="1450110"/>
            <a:ext cx="11734506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Decoupled, real-time services · Existing platforms (LinkedIn / Naukri) → Proposed LinkPro → Architectural gain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189" y="1980374"/>
            <a:ext cx="3530512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Real-Time Messaging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189" y="2462439"/>
            <a:ext cx="3530512" cy="11914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Asynchronous polling; high server overhead. Full-duplex WebSocket channels via Socket.io. Sub-150ms instant chat; zero polling overhead.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444889" y="1980374"/>
            <a:ext cx="3301917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Content &amp; Feed Ranking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444889" y="2462439"/>
            <a:ext cx="3301917" cy="1489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Opaque, ad-heavy blackbox algorithms. Strategy Pattern (Network, Admin, Public feeds). Polymorphic, role-tailored feed delivery.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03995" y="1980374"/>
            <a:ext cx="3530512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Codebase Architecture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03995" y="2462439"/>
            <a:ext cx="3530512" cy="1489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Monolithic controllers with tight service coupling. Decoupled 3-Tier MERN stack with 9 GoF Patterns. High cohesion, testability; 65% cleaner controllers.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7189" y="4412722"/>
            <a:ext cx="3530512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Connection Lifecycle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189" y="4894786"/>
            <a:ext cx="3530512" cy="1489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Ad-hoc status strings allowing invalid jumps. Finite State Pattern (Pending, Connected, Blocked). Strict relational integrity; zero illegal state leaps.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444889" y="4412722"/>
            <a:ext cx="3301917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Alert System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444889" y="4894786"/>
            <a:ext cx="3301917" cy="1489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Duplicated Mongoose calls across controllers. Centralized Factory Method (NotificationFactory). Open/Closed compliant; zero schema mutation bugs.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203995" y="4412722"/>
            <a:ext cx="3530512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Cost &amp; Accessibility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03995" y="4894786"/>
            <a:ext cx="3530512" cy="1489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Heavy subscription fees for basic networking features. 100% Free, open-source stack tailored for learners. Zero licensing cost; accessible across Tier-2/3 cities.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209945" y="1970088"/>
            <a:ext cx="12700" cy="2203748"/>
          </a:xfrm>
          <a:prstGeom prst="rect">
            <a:avLst/>
          </a:prstGeom>
          <a:solidFill>
            <a:srgbClr val="CBD4CE"/>
          </a:solidFill>
          <a:ln/>
        </p:spPr>
      </p:sp>
      <p:sp>
        <p:nvSpPr>
          <p:cNvPr id="18" name="Shape 16"/>
          <p:cNvSpPr/>
          <p:nvPr/>
        </p:nvSpPr>
        <p:spPr>
          <a:xfrm>
            <a:off x="7969051" y="1970088"/>
            <a:ext cx="12700" cy="2203748"/>
          </a:xfrm>
          <a:prstGeom prst="rect">
            <a:avLst/>
          </a:prstGeom>
          <a:solidFill>
            <a:srgbClr val="CBD4CE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189" y="4167485"/>
            <a:ext cx="3759106" cy="12700"/>
          </a:xfrm>
          <a:prstGeom prst="rect">
            <a:avLst/>
          </a:prstGeom>
          <a:solidFill>
            <a:srgbClr val="CBD4CE"/>
          </a:solidFill>
          <a:ln/>
        </p:spPr>
      </p:sp>
      <p:sp>
        <p:nvSpPr>
          <p:cNvPr id="20" name="Shape 18"/>
          <p:cNvSpPr/>
          <p:nvPr/>
        </p:nvSpPr>
        <p:spPr>
          <a:xfrm>
            <a:off x="4209945" y="4173835"/>
            <a:ext cx="12700" cy="2203748"/>
          </a:xfrm>
          <a:prstGeom prst="rect">
            <a:avLst/>
          </a:prstGeom>
          <a:solidFill>
            <a:srgbClr val="CBD4CE"/>
          </a:solidFill>
          <a:ln/>
        </p:spPr>
      </p:sp>
      <p:sp>
        <p:nvSpPr>
          <p:cNvPr id="21" name="Shape 19"/>
          <p:cNvSpPr/>
          <p:nvPr/>
        </p:nvSpPr>
        <p:spPr>
          <a:xfrm>
            <a:off x="4216295" y="4167485"/>
            <a:ext cx="3759106" cy="12700"/>
          </a:xfrm>
          <a:prstGeom prst="rect">
            <a:avLst/>
          </a:prstGeom>
          <a:solidFill>
            <a:srgbClr val="CBD4CE"/>
          </a:solidFill>
          <a:ln/>
        </p:spPr>
      </p:sp>
      <p:sp>
        <p:nvSpPr>
          <p:cNvPr id="22" name="Shape 20"/>
          <p:cNvSpPr/>
          <p:nvPr/>
        </p:nvSpPr>
        <p:spPr>
          <a:xfrm>
            <a:off x="7969051" y="4173835"/>
            <a:ext cx="12700" cy="2203748"/>
          </a:xfrm>
          <a:prstGeom prst="rect">
            <a:avLst/>
          </a:prstGeom>
          <a:solidFill>
            <a:srgbClr val="CBD4CE"/>
          </a:solidFill>
          <a:ln/>
        </p:spPr>
      </p:sp>
      <p:sp>
        <p:nvSpPr>
          <p:cNvPr id="23" name="Shape 21"/>
          <p:cNvSpPr/>
          <p:nvPr/>
        </p:nvSpPr>
        <p:spPr>
          <a:xfrm>
            <a:off x="7975400" y="4167485"/>
            <a:ext cx="3759106" cy="12700"/>
          </a:xfrm>
          <a:prstGeom prst="rect">
            <a:avLst/>
          </a:prstGeom>
          <a:solidFill>
            <a:srgbClr val="CBD4CE"/>
          </a:solidFill>
          <a:ln/>
        </p:spPr>
      </p:sp>
      <p:sp>
        <p:nvSpPr>
          <p:cNvPr id="24" name="Oval 23"/>
          <p:cNvSpPr/>
          <p:nvPr/>
        </p:nvSpPr>
        <p:spPr>
          <a:xfrm>
            <a:off x="10954693" y="6547104"/>
            <a:ext cx="1237307" cy="31089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51011" cy="6858000"/>
          </a:xfrm>
          <a:prstGeom prst="rect">
            <a:avLst/>
          </a:prstGeom>
          <a:solidFill>
            <a:srgbClr val="083C35"/>
          </a:solidFill>
          <a:ln/>
        </p:spPr>
      </p:sp>
      <p:sp>
        <p:nvSpPr>
          <p:cNvPr id="3" name="Text 1"/>
          <p:cNvSpPr/>
          <p:nvPr/>
        </p:nvSpPr>
        <p:spPr>
          <a:xfrm>
            <a:off x="253994" y="263080"/>
            <a:ext cx="4897017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00" kern="100" spc="6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PROJECT CHARTER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53994" y="561947"/>
            <a:ext cx="4643024" cy="1373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b="1" kern="100" spc="-68" dirty="0">
                <a:solidFill>
                  <a:srgbClr val="FFFFFF"/>
                </a:solidFill>
                <a:latin typeface="Sora Bold" pitchFamily="34" charset="0"/>
                <a:ea typeface="Sora Bold" pitchFamily="34" charset="-122"/>
                <a:cs typeface="Sora Bold" pitchFamily="34" charset="0"/>
              </a:rPr>
              <a:t>A measurable baseline governed by Agile Scrum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53994" y="2162302"/>
            <a:ext cx="4897017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DCE4D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LinkPro – Professional Networking Platform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53994" y="2688566"/>
            <a:ext cx="4643024" cy="368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4D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01 August 2026 to 31 October 2026 · Internal Guide: Prof. Rita Gokani · Institution: LJ University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3994" y="3288657"/>
            <a:ext cx="4897017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00" kern="100" spc="6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MOV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3994" y="3686647"/>
            <a:ext cx="4643024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100% core MVP modules within 15 sprints · API response latency &lt; 300ms for 95% of endpoints · zero unhandled crashes in production Express server · real-time chat message propagation under 150ms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53994" y="4897275"/>
            <a:ext cx="4643024" cy="368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4D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Free-tier MongoDB Atlas cluster &amp; Cloudinary CDN · open-source MERN stack; zero licensing overhead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12893" y="467487"/>
            <a:ext cx="5821614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Governance milestones</a:t>
            </a:r>
            <a:endParaRPr lang="en-US" sz="1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12893" y="943074"/>
          <a:ext cx="5821614" cy="5591036"/>
        </p:xfrm>
        <a:graphic>
          <a:graphicData uri="http://schemas.openxmlformats.org/drawingml/2006/table">
            <a:tbl>
              <a:tblPr/>
              <a:tblGrid>
                <a:gridCol w="3143668"/>
                <a:gridCol w="2677946"/>
              </a:tblGrid>
              <a:tr h="70046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Project phase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0799" marR="50799" marT="63498" marB="63498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Window · completion · status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0799" marR="50799" marT="63498" marB="63498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046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Initiation &amp; Requirement Analysis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0799" marR="50799" marT="63498" marB="63498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August · 05-Aug-2026 · Completed (Approved)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0799" marR="50799" marT="63498" marB="63498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046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System Design &amp; Architecture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0799" marR="50799" marT="63498" marB="63498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August · 09-Aug-2026 · Completed (Approved)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0799" marR="50799" marT="63498" marB="63498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046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Core Authentication &amp; Profiles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0799" marR="50799" marT="63498" marB="63498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August · 31-Aug-2026 · Completed (Approved)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0799" marR="50799" marT="63498" marB="63498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046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Newsfeed, Sockets Chat &amp; Jobs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0799" marR="50799" marT="63498" marB="63498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September · 30-Sep-2026 · Completed (Approved)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0799" marR="50799" marT="63498" marB="63498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046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Admin, QA &amp; UI Enhancement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0799" marR="50799" marT="63498" marB="63498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October · 21-Oct-2026 · Completed (Approved)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0799" marR="50799" marT="63498" marB="63498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046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SOLID &amp; GoF Pattern Refactoring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0799" marR="50799" marT="63498" marB="63498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October · 28-Oct-2026 · Completed (Approved)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0799" marR="50799" marT="63498" marB="63498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776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Cloud Deployment &amp; Final Sign-Off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0799" marR="50799" marT="63498" marB="63498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October · 31-Oct-2026 · Completed (Signed Off)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0799" marR="50799" marT="63498" marB="63498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Oval 11"/>
          <p:cNvSpPr/>
          <p:nvPr/>
        </p:nvSpPr>
        <p:spPr>
          <a:xfrm>
            <a:off x="10954693" y="6547104"/>
            <a:ext cx="1237307" cy="31089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6280"/>
            <a:ext cx="11734506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00" kern="100" spc="60" dirty="0">
                <a:solidFill>
                  <a:srgbClr val="0A7C78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05 · DELIVERY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189" y="765147"/>
            <a:ext cx="11277318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b="1" kern="100" spc="-68" dirty="0">
                <a:solidFill>
                  <a:srgbClr val="10201D"/>
                </a:solidFill>
                <a:latin typeface="Sora Bold" pitchFamily="34" charset="0"/>
                <a:ea typeface="Sora Bold" pitchFamily="34" charset="-122"/>
                <a:cs typeface="Sora Bold" pitchFamily="34" charset="0"/>
              </a:rPr>
              <a:t>Agile Scrum made delivery iterative, visible, and refactorable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189" y="1907806"/>
            <a:ext cx="11734506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Each sprint moved from a defined backlog to a working increment, feedback, and adaptation.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0" y="3581400"/>
            <a:ext cx="2819329" cy="3276600"/>
          </a:xfrm>
          <a:prstGeom prst="rect">
            <a:avLst/>
          </a:prstGeom>
          <a:solidFill>
            <a:srgbClr val="E5E9D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195" y="3784600"/>
            <a:ext cx="431789" cy="431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3195" y="4458716"/>
            <a:ext cx="2412940" cy="402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Sprint planning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203195" y="5036816"/>
            <a:ext cx="2412940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15 targeted sprints, modified Fibonacci estimates, 27 person-days per sprint, and a defined Definition of Done.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124122" y="3581400"/>
            <a:ext cx="2819329" cy="3276600"/>
          </a:xfrm>
          <a:prstGeom prst="rect">
            <a:avLst/>
          </a:prstGeom>
          <a:solidFill>
            <a:srgbClr val="E5E9DA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7317" y="3784600"/>
            <a:ext cx="431789" cy="4318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27317" y="4458716"/>
            <a:ext cx="2412940" cy="402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Daily execution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3327317" y="5036816"/>
            <a:ext cx="2412940" cy="1226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15-minute standups, verified API contracts, feature branches, pull requests, ESLint, Prettier, and incremental builds.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248244" y="3581400"/>
            <a:ext cx="2819329" cy="3276600"/>
          </a:xfrm>
          <a:prstGeom prst="rect">
            <a:avLst/>
          </a:prstGeom>
          <a:solidFill>
            <a:srgbClr val="E5E9DA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1439" y="3784600"/>
            <a:ext cx="431789" cy="4318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51439" y="4458716"/>
            <a:ext cx="2412940" cy="402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Sprint review</a:t>
            </a:r>
            <a:endParaRPr lang="en-US" sz="2400" dirty="0"/>
          </a:p>
        </p:txBody>
      </p:sp>
      <p:sp>
        <p:nvSpPr>
          <p:cNvPr id="16" name="Text 11"/>
          <p:cNvSpPr/>
          <p:nvPr/>
        </p:nvSpPr>
        <p:spPr>
          <a:xfrm>
            <a:off x="6451439" y="5036816"/>
            <a:ext cx="2412940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Functional demos, immediate guide feedback, and acceptance testing against Gherkin user stories.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9372366" y="3581400"/>
            <a:ext cx="2819329" cy="3276600"/>
          </a:xfrm>
          <a:prstGeom prst="rect">
            <a:avLst/>
          </a:prstGeom>
          <a:solidFill>
            <a:srgbClr val="083C35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75560" y="3784600"/>
            <a:ext cx="431789" cy="4318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575560" y="4458716"/>
            <a:ext cx="2412940" cy="402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Retrospective</a:t>
            </a:r>
            <a:endParaRPr lang="en-US" sz="2400" dirty="0"/>
          </a:p>
        </p:txBody>
      </p:sp>
      <p:sp>
        <p:nvSpPr>
          <p:cNvPr id="20" name="Text 14"/>
          <p:cNvSpPr/>
          <p:nvPr/>
        </p:nvSpPr>
        <p:spPr>
          <a:xfrm>
            <a:off x="9575560" y="5036816"/>
            <a:ext cx="2412940" cy="1471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DCE4D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Velocity and code smells exposed monolithic controllers. Sprint 14, 22–28 October, applied 9 GoF patterns and SOLID principles.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2454"/>
            <a:ext cx="11734506" cy="131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850" kern="100" spc="46" dirty="0">
                <a:solidFill>
                  <a:srgbClr val="0A7C78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06 · DELIVERY CONTROL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189" y="669756"/>
            <a:ext cx="11277318" cy="6943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600" b="1" kern="100" spc="-52" dirty="0">
                <a:solidFill>
                  <a:srgbClr val="10201D"/>
                </a:solidFill>
                <a:latin typeface="Sora Bold" pitchFamily="34" charset="0"/>
                <a:ea typeface="Sora Bold" pitchFamily="34" charset="-122"/>
                <a:cs typeface="Sora Bold" pitchFamily="34" charset="0"/>
              </a:rPr>
              <a:t>WBS converts the platform into 14 accountable engineering packages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189" y="1499631"/>
            <a:ext cx="11734506" cy="198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13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Every package is complete, from requirements and setup through QA, UI improvement, and deployment.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2200235"/>
              </p:ext>
            </p:extLst>
          </p:nvPr>
        </p:nvGraphicFramePr>
        <p:xfrm>
          <a:off x="470778" y="1828439"/>
          <a:ext cx="10483915" cy="4936740"/>
        </p:xfrm>
        <a:graphic>
          <a:graphicData uri="http://schemas.openxmlformats.org/drawingml/2006/table">
            <a:tbl>
              <a:tblPr/>
              <a:tblGrid>
                <a:gridCol w="943530"/>
                <a:gridCol w="2096765"/>
                <a:gridCol w="5975784"/>
                <a:gridCol w="1467836"/>
              </a:tblGrid>
              <a:tr h="30965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ID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2808" marR="122808" marT="65498" marB="65498" anchor="ctr">
                    <a:lnL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C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Package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2808" marR="122808" marT="65498" marB="65498" anchor="ctr">
                    <a:lnL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C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Engineering activities &amp; deliverables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2808" marR="122808" marT="65498" marB="65498" anchor="ctr">
                    <a:lnL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C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Status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2808" marR="122808" marT="65498" marB="65498" anchor="ctr">
                    <a:lnL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C35"/>
                    </a:solidFill>
                  </a:tcPr>
                </a:tc>
              </a:tr>
              <a:tr h="30965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1.0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2808" marR="122808" marT="65498" marB="65498" anchor="ctr">
                    <a:lnL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Requirement Gathering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2808" marR="122808" marT="65498" marB="65498" anchor="ctr">
                    <a:lnL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Define MOV, scope boundaries, feasibility, and target users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2808" marR="122808" marT="65498" marB="65498" anchor="ctr">
                    <a:lnL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Complete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2808" marR="122808" marT="65498" marB="65498" anchor="ctr">
                    <a:lnL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965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2.0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2808" marR="122808" marT="65498" marB="65498" anchor="ctr">
                    <a:lnL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Project Setup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2808" marR="122808" marT="65498" marB="65498" anchor="ctr">
                    <a:lnL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React, Node.js, Express, MongoDB Atlas, and GitHub repository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2808" marR="122808" marT="65498" marB="65498" anchor="ctr">
                    <a:lnL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Complete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2808" marR="122808" marT="65498" marB="65498" anchor="ctr">
                    <a:lnL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965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3.0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2808" marR="122808" marT="65498" marB="65498" anchor="ctr">
                    <a:lnL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Authentication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2808" marR="122808" marT="65498" marB="65498" anchor="ctr">
                    <a:lnL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Registration, bcrypt hashing, JWT cookies, and OTP recovery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2808" marR="122808" marT="65498" marB="65498" anchor="ctr">
                    <a:lnL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Complete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2808" marR="122808" marT="65498" marB="65498" anchor="ctr">
                    <a:lnL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965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4.0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2808" marR="122808" marT="65498" marB="65498" anchor="ctr">
                    <a:lnL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Profile Management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2808" marR="122808" marT="65498" marB="65498" anchor="ctr">
                    <a:lnL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Profile schema, headline, skills, experience, and resume upload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2808" marR="122808" marT="65498" marB="65498" anchor="ctr">
                    <a:lnL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Complete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2808" marR="122808" marT="65498" marB="65498" anchor="ctr">
                    <a:lnL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965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5.0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2808" marR="122808" marT="65498" marB="65498" anchor="ctr">
                    <a:lnL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Posts &amp; Feed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2808" marR="122808" marT="65498" marB="65498" anchor="ctr">
                    <a:lnL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CRUD posts, Cloudinary media, likes, and comments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2808" marR="122808" marT="65498" marB="65498" anchor="ctr">
                    <a:lnL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Complete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2808" marR="122808" marT="65498" marB="65498" anchor="ctr">
                    <a:lnL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965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6.0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2808" marR="122808" marT="65498" marB="65498" anchor="ctr">
                    <a:lnL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Connections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2808" marR="122808" marT="65498" marB="65498" anchor="ctr">
                    <a:lnL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State-pattern friend lifecycle: Send, Accept, Reject, Friends list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2808" marR="122808" marT="65498" marB="65498" anchor="ctr">
                    <a:lnL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Complete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2808" marR="122808" marT="65498" marB="65498" anchor="ctr">
                    <a:lnL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965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7.0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2808" marR="122808" marT="65498" marB="65498" anchor="ctr">
                    <a:lnL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Chat System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2808" marR="122808" marT="65498" marB="65498" anchor="ctr">
                    <a:lnL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Socket.io real-time bidirectional private chat and history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2808" marR="122808" marT="65498" marB="65498" anchor="ctr">
                    <a:lnL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Complete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2808" marR="122808" marT="65498" marB="65498" anchor="ctr">
                    <a:lnL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965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8.0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2808" marR="122808" marT="65498" marB="65498" anchor="ctr">
                    <a:lnL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Jobs Feature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2808" marR="122808" marT="65498" marB="65498" anchor="ctr">
                    <a:lnL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Job posting, applicant management, and 1-click apply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2808" marR="122808" marT="65498" marB="65498" anchor="ctr">
                    <a:lnL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Complete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2808" marR="122808" marT="65498" marB="65498" anchor="ctr">
                    <a:lnL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965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9.0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2808" marR="122808" marT="65498" marB="65498" anchor="ctr">
                    <a:lnL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Search &amp; Filter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2808" marR="122808" marT="65498" marB="65498" anchor="ctr">
                    <a:lnL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Regex search across users, posts, skills, companies, and roles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2808" marR="122808" marT="65498" marB="65498" anchor="ctr">
                    <a:lnL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Complete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2808" marR="122808" marT="65498" marB="65498" anchor="ctr">
                    <a:lnL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965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10.0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2808" marR="122808" marT="65498" marB="65498" anchor="ctr">
                    <a:lnL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Notifications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2808" marR="122808" marT="65498" marB="65498" anchor="ctr">
                    <a:lnL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Factory-pattern triggers for likes, comments, and requests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2808" marR="122808" marT="65498" marB="65498" anchor="ctr">
                    <a:lnL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Complete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2808" marR="122808" marT="65498" marB="65498" anchor="ctr">
                    <a:lnL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965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11.0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2808" marR="122808" marT="65498" marB="65498" anchor="ctr">
                    <a:lnL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Admin Panel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2808" marR="122808" marT="65498" marB="65498" anchor="ctr">
                    <a:lnL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Admin auth, analytics, user moderation, and post control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2808" marR="122808" marT="65498" marB="65498" anchor="ctr">
                    <a:lnL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Complete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2808" marR="122808" marT="65498" marB="65498" anchor="ctr">
                    <a:lnL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965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12.0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2808" marR="122808" marT="65498" marB="65498" anchor="ctr">
                    <a:lnL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Testing &amp; Integration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2808" marR="122808" marT="65498" marB="65498" anchor="ctr">
                    <a:lnL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Postman collections, bug fixing, and integration checks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2808" marR="122808" marT="65498" marB="65498" anchor="ctr">
                    <a:lnL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Complete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2808" marR="122808" marT="65498" marB="65498" anchor="ctr">
                    <a:lnL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965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13.0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2808" marR="122808" marT="65498" marB="65498" anchor="ctr">
                    <a:lnL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UI Improvement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2808" marR="122808" marT="65498" marB="65498" anchor="ctr">
                    <a:lnL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Tailwind responsive layouts, animation polish, and mobile guards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2808" marR="122808" marT="65498" marB="65498" anchor="ctr">
                    <a:lnL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Complete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2808" marR="122808" marT="65498" marB="65498" anchor="ctr">
                    <a:lnL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965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14.0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2808" marR="122808" marT="65498" marB="65498" anchor="ctr">
                    <a:lnL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Deployment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2808" marR="122808" marT="65498" marB="65498" anchor="ctr">
                    <a:lnL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Cloud configuration, environment variables, and final sign-off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2808" marR="122808" marT="65498" marB="65498" anchor="ctr">
                    <a:lnL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Complete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2808" marR="122808" marT="65498" marB="65498" anchor="ctr">
                    <a:lnL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Oval 5"/>
          <p:cNvSpPr/>
          <p:nvPr/>
        </p:nvSpPr>
        <p:spPr>
          <a:xfrm>
            <a:off x="10954693" y="6547104"/>
            <a:ext cx="1237307" cy="31089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6280"/>
            <a:ext cx="6974705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00" kern="100" spc="60" dirty="0">
                <a:solidFill>
                  <a:srgbClr val="0A7C78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07 · SCHEDULE EVIDENCE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189" y="765147"/>
            <a:ext cx="6517517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b="1" kern="100" spc="-68" dirty="0">
                <a:solidFill>
                  <a:srgbClr val="10201D"/>
                </a:solidFill>
                <a:latin typeface="Sora Bold" pitchFamily="34" charset="0"/>
                <a:ea typeface="Sora Bold" pitchFamily="34" charset="-122"/>
                <a:cs typeface="Sora Bold" pitchFamily="34" charset="0"/>
              </a:rPr>
              <a:t>Fifteen sprints closed the 92-day delivery window on time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189" y="1907806"/>
            <a:ext cx="6517517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The schedule moves from requirements and setup to core modules, QA, refactoring, deployment, and sign-off.</a:t>
            </a:r>
            <a:endParaRPr lang="en-US" sz="1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89" y="2725638"/>
            <a:ext cx="6349841" cy="2667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189" y="5525925"/>
            <a:ext cx="6974705" cy="184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5F6D68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Project duration: 01-Aug-2026 to 31-Oct-2026 · Milestone result: 100% on-time completion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888983" y="0"/>
            <a:ext cx="4302712" cy="6858000"/>
          </a:xfrm>
          <a:prstGeom prst="rect">
            <a:avLst/>
          </a:prstGeom>
          <a:solidFill>
            <a:srgbClr val="FFFFFF"/>
          </a:solidFill>
          <a:ln w="25399">
            <a:solidFill>
              <a:srgbClr val="CBCF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371571" y="496316"/>
            <a:ext cx="3337536" cy="402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Timeline highlights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8371571" y="1069082"/>
            <a:ext cx="392500" cy="392509"/>
          </a:xfrm>
          <a:prstGeom prst="ellipse">
            <a:avLst/>
          </a:prstGeom>
          <a:solidFill>
            <a:srgbClr val="083C35"/>
          </a:solidFill>
          <a:ln w="12700">
            <a:solidFill>
              <a:srgbClr val="CBCFC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38244" y="1157387"/>
            <a:ext cx="86873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01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979965" y="1208123"/>
            <a:ext cx="2729142" cy="368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0201D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Sprints 1–2</a:t>
            </a:r>
            <a:endParaRPr lang="en-US" sz="1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01–09 Aug · Requirements &amp; Dev Setup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371571" y="1570534"/>
            <a:ext cx="392500" cy="392509"/>
          </a:xfrm>
          <a:prstGeom prst="ellipse">
            <a:avLst/>
          </a:prstGeom>
          <a:solidFill>
            <a:srgbClr val="083C35"/>
          </a:solidFill>
          <a:ln w="12700">
            <a:solidFill>
              <a:srgbClr val="CBCFC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38244" y="1658838"/>
            <a:ext cx="86873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02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8979965" y="1709575"/>
            <a:ext cx="2729142" cy="5530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0201D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Sprints 3–6</a:t>
            </a:r>
            <a:endParaRPr lang="en-US" sz="1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10 Aug–03 Sep · Auth, Profiles &amp; Connections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371571" y="2256334"/>
            <a:ext cx="392500" cy="392509"/>
          </a:xfrm>
          <a:prstGeom prst="ellipse">
            <a:avLst/>
          </a:prstGeom>
          <a:solidFill>
            <a:srgbClr val="083C35"/>
          </a:solidFill>
          <a:ln w="12700">
            <a:solidFill>
              <a:srgbClr val="CBCFC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438244" y="2344638"/>
            <a:ext cx="86873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03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8979965" y="2395375"/>
            <a:ext cx="2729142" cy="368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0201D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Sprints 7–10</a:t>
            </a:r>
            <a:endParaRPr lang="en-US" sz="1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04 Sep–01 Oct · Socket Chat, Jobs &amp; Alerts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371571" y="2757785"/>
            <a:ext cx="392500" cy="392509"/>
          </a:xfrm>
          <a:prstGeom prst="ellipse">
            <a:avLst/>
          </a:prstGeom>
          <a:solidFill>
            <a:srgbClr val="083C35"/>
          </a:solidFill>
          <a:ln w="12700">
            <a:solidFill>
              <a:srgbClr val="CBCFC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438244" y="2846090"/>
            <a:ext cx="86873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04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8979965" y="2896826"/>
            <a:ext cx="2729142" cy="5530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0201D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Sprints 11–13</a:t>
            </a:r>
            <a:endParaRPr lang="en-US" sz="1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02–21 Oct · Admin, Postman QA &amp; UI Polish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8371571" y="3443585"/>
            <a:ext cx="392500" cy="392509"/>
          </a:xfrm>
          <a:prstGeom prst="ellipse">
            <a:avLst/>
          </a:prstGeom>
          <a:solidFill>
            <a:srgbClr val="083C35"/>
          </a:solidFill>
          <a:ln w="12700">
            <a:solidFill>
              <a:srgbClr val="CBCFC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438244" y="3531890"/>
            <a:ext cx="86873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05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8979965" y="3582626"/>
            <a:ext cx="2729142" cy="368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0201D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Sprint 14</a:t>
            </a:r>
            <a:endParaRPr lang="en-US" sz="1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22–28 Oct · SOLID &amp; GoF Patterns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8371571" y="3945037"/>
            <a:ext cx="3337536" cy="787400"/>
          </a:xfrm>
          <a:prstGeom prst="rect">
            <a:avLst/>
          </a:prstGeom>
          <a:solidFill>
            <a:srgbClr val="F26A3D"/>
          </a:solidFill>
          <a:ln/>
        </p:spPr>
      </p:sp>
      <p:sp>
        <p:nvSpPr>
          <p:cNvPr id="25" name="Shape 22"/>
          <p:cNvSpPr/>
          <p:nvPr/>
        </p:nvSpPr>
        <p:spPr>
          <a:xfrm>
            <a:off x="8600165" y="3995837"/>
            <a:ext cx="392500" cy="392509"/>
          </a:xfrm>
          <a:prstGeom prst="ellipse">
            <a:avLst/>
          </a:prstGeom>
          <a:solidFill>
            <a:srgbClr val="083C35"/>
          </a:solidFill>
          <a:ln w="12700">
            <a:solidFill>
              <a:srgbClr val="CBCFC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666839" y="4084141"/>
            <a:ext cx="86873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06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9208559" y="4134878"/>
            <a:ext cx="2271953" cy="5530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0201D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Sprint 15</a:t>
            </a:r>
            <a:endParaRPr lang="en-US" sz="1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29–31 Oct · Cloud Deployment &amp; Sign-off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867253" cy="5241780"/>
          </a:xfrm>
          <a:prstGeom prst="rect">
            <a:avLst/>
          </a:prstGeom>
          <a:solidFill>
            <a:srgbClr val="083C35"/>
          </a:solidFill>
          <a:ln/>
        </p:spPr>
      </p:sp>
      <p:sp>
        <p:nvSpPr>
          <p:cNvPr id="3" name="Text 1"/>
          <p:cNvSpPr/>
          <p:nvPr/>
        </p:nvSpPr>
        <p:spPr>
          <a:xfrm>
            <a:off x="355591" y="363107"/>
            <a:ext cx="5511662" cy="122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800" kern="100" spc="43" dirty="0">
                <a:solidFill>
                  <a:srgbClr val="0FBDB7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08 · JIRA / SCRUM BOARD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55591" y="552580"/>
            <a:ext cx="5156071" cy="646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400" b="1" kern="100" spc="-48" dirty="0">
                <a:solidFill>
                  <a:srgbClr val="FFFFFF"/>
                </a:solidFill>
                <a:latin typeface="Sora Bold" pitchFamily="34" charset="0"/>
                <a:ea typeface="Sora Bold" pitchFamily="34" charset="-122"/>
                <a:cs typeface="Sora Bold" pitchFamily="34" charset="0"/>
              </a:rPr>
              <a:t>LINKPRO tracked delivery from epic to accepted story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55591" y="1305815"/>
            <a:ext cx="5156071" cy="7179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00" dirty="0">
                <a:solidFill>
                  <a:srgbClr val="DCE4D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Project key: LINKPRO</a:t>
            </a:r>
            <a:endParaRPr lang="en-US" sz="1200" dirty="0"/>
          </a:p>
          <a:p>
            <a:pPr marL="0" indent="0" algn="l">
              <a:lnSpc>
                <a:spcPct val="98000"/>
              </a:lnSpc>
              <a:buNone/>
            </a:pPr>
            <a:r>
              <a:rPr lang="en-US" sz="1200" dirty="0">
                <a:solidFill>
                  <a:srgbClr val="DCE4D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Board: LinkPro Scrum Board</a:t>
            </a:r>
            <a:endParaRPr lang="en-US" sz="1200" dirty="0"/>
          </a:p>
          <a:p>
            <a:pPr marL="0" indent="0" algn="l">
              <a:lnSpc>
                <a:spcPct val="98000"/>
              </a:lnSpc>
              <a:buNone/>
            </a:pPr>
            <a:r>
              <a:rPr lang="en-US" sz="1200" dirty="0">
                <a:solidFill>
                  <a:srgbClr val="DCE4D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Lead: Anand Yadav</a:t>
            </a:r>
            <a:endParaRPr lang="en-US" sz="1200" dirty="0"/>
          </a:p>
          <a:p>
            <a:pPr marL="0" indent="0" algn="l">
              <a:lnSpc>
                <a:spcPct val="98000"/>
              </a:lnSpc>
              <a:buNone/>
            </a:pPr>
            <a:r>
              <a:rPr lang="en-US" sz="1200" dirty="0">
                <a:solidFill>
                  <a:srgbClr val="DCE4D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Product Owner: Prof. Rita Gokani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55591" y="4143573"/>
            <a:ext cx="5156071" cy="374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850"/>
              </a:spcAft>
              <a:buNone/>
            </a:pPr>
            <a:r>
              <a:rPr lang="en-US" sz="800" dirty="0">
                <a:solidFill>
                  <a:srgbClr val="0FBDB7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Six epics · 100% done</a:t>
            </a:r>
            <a:endParaRPr lang="en-US" sz="8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DCE4D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4/4 · 5/5 · 5/5 · 4/4 · 5/5 · 5/5 stories complete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781630" y="467108"/>
            <a:ext cx="4952876" cy="284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Completed epics</a:t>
            </a:r>
            <a:endParaRPr lang="en-US" sz="17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81630" y="833239"/>
          <a:ext cx="5003825" cy="3600050"/>
        </p:xfrm>
        <a:graphic>
          <a:graphicData uri="http://schemas.openxmlformats.org/drawingml/2006/table">
            <a:tbl>
              <a:tblPr/>
              <a:tblGrid>
                <a:gridCol w="1717037"/>
                <a:gridCol w="1010716"/>
                <a:gridCol w="1767736"/>
                <a:gridCol w="254168"/>
                <a:gridCol w="254168"/>
              </a:tblGrid>
              <a:tr h="3076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Epic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84" marR="114384" marT="61005" marB="61005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Stories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84" marR="114384" marT="61005" marB="61005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Evidence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84" marR="114384" marT="61005" marB="61005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84" marR="114384" marT="61005" marB="61005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84" marR="114384" marT="61005" marB="61005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1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LINKPRO-1 · User &amp; Profile Management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84" marR="114384" marT="61005" marB="61005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4/4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84" marR="114384" marT="61005" marB="61005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Auth, profile schema, resume upload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84" marR="114384" marT="61005" marB="61005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84" marR="114384" marT="61005" marB="61005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84" marR="114384" marT="61005" marB="61005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66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LINKPRO-2 · Networking &amp; Connections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84" marR="114384" marT="61005" marB="61005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5/5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84" marR="114384" marT="61005" marB="61005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Friend request state lifecycle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84" marR="114384" marT="61005" marB="61005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84" marR="114384" marT="61005" marB="61005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84" marR="114384" marT="61005" marB="61005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66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LINKPRO-3 · Newsfeed &amp; Content Engine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84" marR="114384" marT="61005" marB="61005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5/5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84" marR="114384" marT="61005" marB="61005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Posts, Cloudinary, feed ranking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84" marR="114384" marT="61005" marB="61005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84" marR="114384" marT="61005" marB="61005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84" marR="114384" marT="61005" marB="61005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1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LINKPRO-4 · Real-Time Chat &amp; Alerts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84" marR="114384" marT="61005" marB="61005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4/4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84" marR="114384" marT="61005" marB="61005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Socket.io chat, live badges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84" marR="114384" marT="61005" marB="61005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84" marR="114384" marT="61005" marB="61005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84" marR="114384" marT="61005" marB="61005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1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LINKPRO-5 · Job Portal &amp; Search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84" marR="114384" marT="61005" marB="61005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5/5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84" marR="114384" marT="61005" marB="61005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Job postings, keyword filtering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84" marR="114384" marT="61005" marB="61005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84" marR="114384" marT="61005" marB="61005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84" marR="114384" marT="61005" marB="61005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80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LINKPRO-6 · Quality, Patterns &amp; Docs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84" marR="114384" marT="61005" marB="61005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5/5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84" marR="114384" marT="61005" marB="61005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SOLID, 9 GoF patterns, QA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84" marR="114384" marT="61005" marB="61005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84" marR="114384" marT="61005" marB="61005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84" marR="114384" marT="61005" marB="61005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0" y="5330924"/>
            <a:ext cx="12191695" cy="1528663"/>
          </a:xfrm>
          <a:prstGeom prst="rect">
            <a:avLst/>
          </a:prstGeom>
          <a:solidFill>
            <a:srgbClr val="E5E9DA"/>
          </a:solidFill>
          <a:ln/>
        </p:spPr>
      </p:sp>
      <p:sp>
        <p:nvSpPr>
          <p:cNvPr id="10" name="Text 7"/>
          <p:cNvSpPr/>
          <p:nvPr/>
        </p:nvSpPr>
        <p:spPr>
          <a:xfrm>
            <a:off x="228594" y="5567031"/>
            <a:ext cx="11963101" cy="122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800" kern="100" spc="43" dirty="0">
                <a:solidFill>
                  <a:srgbClr val="0A7C78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FEATURED STORY · LINKPRO-16 · 8 STORY POINTS · HIGHEST PRIORITY · RESOLVED / DONE</a:t>
            </a:r>
            <a:endParaRPr lang="en-US" sz="800" dirty="0"/>
          </a:p>
        </p:txBody>
      </p:sp>
      <p:sp>
        <p:nvSpPr>
          <p:cNvPr id="8" name="Text 8"/>
          <p:cNvSpPr/>
          <p:nvPr/>
        </p:nvSpPr>
        <p:spPr>
          <a:xfrm>
            <a:off x="228594" y="5742470"/>
            <a:ext cx="11734506" cy="284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Dynamic Newsfeed Ranking via Strategy Pattern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228594" y="6115776"/>
            <a:ext cx="11963101" cy="147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0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As a registered user, I want my newsfeed to dynamically rank posts based on network connections and engagement, so that I receive relevant professional updates without ad clutter.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28594" y="6375973"/>
            <a:ext cx="3708307" cy="2605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5F6D68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Chronological</a:t>
            </a:r>
            <a:endParaRPr lang="en-US" sz="8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5F6D68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Unauthenticated visitors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241694" y="6375973"/>
            <a:ext cx="3708307" cy="2605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5F6D68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Network-weighted</a:t>
            </a:r>
            <a:endParaRPr lang="en-US" sz="8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5F6D68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Logged-in connections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8254793" y="6375973"/>
            <a:ext cx="3708307" cy="2605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5F6D68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Under 250ms</a:t>
            </a:r>
            <a:endParaRPr lang="en-US" sz="8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5F6D68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DB indexing preserved latency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38912"/>
            <a:ext cx="1127455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0A7C78"/>
                </a:solidFill>
                <a:latin typeface="IBM Plex Sans SemiBold"/>
              </a:defRPr>
            </a:pPr>
            <a:r>
              <a:rPr dirty="0"/>
              <a:t>09 · RISK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11274552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10201D"/>
                </a:solidFill>
                <a:latin typeface="Sora Bold"/>
              </a:defRPr>
            </a:pPr>
            <a:r>
              <a:rPr dirty="0"/>
              <a:t>Proactive risk mitigation protects platform stability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89888"/>
            <a:ext cx="11274552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>
                <a:solidFill>
                  <a:srgbClr val="10201D"/>
                </a:solidFill>
                <a:latin typeface="IBM Plex Sans"/>
              </a:defRPr>
            </a:pPr>
            <a:r>
              <a:rPr dirty="0"/>
              <a:t>Seven identified architectural and operational risks tracked with concrete technical safeguards.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965960"/>
          <a:ext cx="11274552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834640"/>
                <a:gridCol w="1097280"/>
                <a:gridCol w="822960"/>
                <a:gridCol w="4507992"/>
                <a:gridCol w="1097280"/>
              </a:tblGrid>
              <a:tr h="554355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IBM Plex Sans SemiBold"/>
                        </a:defRPr>
                      </a:pPr>
                      <a:r>
                        <a:rPr dirty="0"/>
                        <a:t>Risk ID</a:t>
                      </a:r>
                    </a:p>
                  </a:txBody>
                  <a:tcPr>
                    <a:solidFill>
                      <a:srgbClr val="083C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IBM Plex Sans SemiBold"/>
                        </a:defRPr>
                      </a:pPr>
                      <a:r>
                        <a:rPr dirty="0"/>
                        <a:t>Risk Description &amp; Technical Cause</a:t>
                      </a:r>
                    </a:p>
                  </a:txBody>
                  <a:tcPr>
                    <a:solidFill>
                      <a:srgbClr val="083C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IBM Plex Sans SemiBold"/>
                        </a:defRPr>
                      </a:pPr>
                      <a:r>
                        <a:rPr dirty="0"/>
                        <a:t>Category</a:t>
                      </a:r>
                    </a:p>
                  </a:txBody>
                  <a:tcPr>
                    <a:solidFill>
                      <a:srgbClr val="083C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IBM Plex Sans SemiBold"/>
                        </a:defRPr>
                      </a:pPr>
                      <a:r>
                        <a:rPr dirty="0"/>
                        <a:t>Level</a:t>
                      </a:r>
                    </a:p>
                  </a:txBody>
                  <a:tcPr>
                    <a:solidFill>
                      <a:srgbClr val="083C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IBM Plex Sans SemiBold"/>
                        </a:defRPr>
                      </a:pPr>
                      <a:r>
                        <a:rPr dirty="0"/>
                        <a:t>Mitigation Strategy &amp; Architecture Pattern</a:t>
                      </a:r>
                    </a:p>
                  </a:txBody>
                  <a:tcPr>
                    <a:solidFill>
                      <a:srgbClr val="083C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IBM Plex Sans SemiBold"/>
                        </a:defRPr>
                      </a:pPr>
                      <a:r>
                        <a:rPr dirty="0"/>
                        <a:t>Status</a:t>
                      </a:r>
                    </a:p>
                  </a:txBody>
                  <a:tcPr>
                    <a:solidFill>
                      <a:srgbClr val="083C35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201D"/>
                          </a:solidFill>
                          <a:latin typeface="IBM Plex Sans SemiBold"/>
                        </a:defRPr>
                      </a:pPr>
                      <a:r>
                        <a:rPr dirty="0"/>
                        <a:t>R-001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01D"/>
                          </a:solidFill>
                          <a:latin typeface="IBM Plex Sans"/>
                        </a:defRPr>
                      </a:pPr>
                      <a:r>
                        <a:rPr dirty="0"/>
                        <a:t>Unauthorized profile mutation or JWT session tampering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01D"/>
                          </a:solidFill>
                          <a:latin typeface="IBM Plex Sans"/>
                        </a:defRPr>
                      </a:pPr>
                      <a:r>
                        <a:rPr dirty="0"/>
                        <a:t>Security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26A3D"/>
                          </a:solidFill>
                          <a:latin typeface="IBM Plex Sans SemiBold"/>
                        </a:defRPr>
                      </a:pPr>
                      <a:r>
                        <a:rPr dirty="0"/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01D"/>
                          </a:solidFill>
                          <a:latin typeface="IBM Plex Sans"/>
                        </a:defRPr>
                      </a:pPr>
                      <a:r>
                        <a:rPr dirty="0"/>
                        <a:t>Enforce </a:t>
                      </a:r>
                      <a:r>
                        <a:rPr dirty="0" err="1"/>
                        <a:t>HttpOnly</a:t>
                      </a:r>
                      <a:r>
                        <a:rPr dirty="0"/>
                        <a:t> cookies, 10 </a:t>
                      </a:r>
                      <a:r>
                        <a:rPr dirty="0" err="1"/>
                        <a:t>bcrypt</a:t>
                      </a:r>
                      <a:r>
                        <a:rPr dirty="0"/>
                        <a:t> salt rounds, and Express route guards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59669"/>
                          </a:solidFill>
                          <a:latin typeface="IBM Plex Sans SemiBold"/>
                        </a:defRPr>
                      </a:pPr>
                      <a:r>
                        <a:rPr dirty="0"/>
                        <a:t>Resolved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201D"/>
                          </a:solidFill>
                          <a:latin typeface="IBM Plex Sans SemiBold"/>
                        </a:defRPr>
                      </a:pPr>
                      <a:r>
                        <a:rPr dirty="0"/>
                        <a:t>R-002</a:t>
                      </a:r>
                    </a:p>
                  </a:txBody>
                  <a:tcPr>
                    <a:solidFill>
                      <a:srgbClr val="E5E9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01D"/>
                          </a:solidFill>
                          <a:latin typeface="IBM Plex Sans"/>
                        </a:defRPr>
                      </a:pPr>
                      <a:r>
                        <a:rPr dirty="0"/>
                        <a:t>Socket connection drops during live chat exchanges</a:t>
                      </a:r>
                    </a:p>
                  </a:txBody>
                  <a:tcPr>
                    <a:solidFill>
                      <a:srgbClr val="E5E9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01D"/>
                          </a:solidFill>
                          <a:latin typeface="IBM Plex Sans"/>
                        </a:defRPr>
                      </a:pPr>
                      <a:r>
                        <a:rPr dirty="0"/>
                        <a:t>Technical</a:t>
                      </a:r>
                    </a:p>
                  </a:txBody>
                  <a:tcPr>
                    <a:solidFill>
                      <a:srgbClr val="E5E9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26A3D"/>
                          </a:solidFill>
                          <a:latin typeface="IBM Plex Sans SemiBold"/>
                        </a:defRPr>
                      </a:pPr>
                      <a:r>
                        <a:rPr dirty="0"/>
                        <a:t>High</a:t>
                      </a:r>
                    </a:p>
                  </a:txBody>
                  <a:tcPr>
                    <a:solidFill>
                      <a:srgbClr val="E5E9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01D"/>
                          </a:solidFill>
                          <a:latin typeface="IBM Plex Sans"/>
                        </a:defRPr>
                      </a:pPr>
                      <a:r>
                        <a:rPr dirty="0"/>
                        <a:t>Heartbeat timeouts (25s ping/5s pong) and automatic client reconnection</a:t>
                      </a:r>
                    </a:p>
                  </a:txBody>
                  <a:tcPr>
                    <a:solidFill>
                      <a:srgbClr val="E5E9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59669"/>
                          </a:solidFill>
                          <a:latin typeface="IBM Plex Sans SemiBold"/>
                        </a:defRPr>
                      </a:pPr>
                      <a:r>
                        <a:rPr dirty="0"/>
                        <a:t>Resolved</a:t>
                      </a:r>
                    </a:p>
                  </a:txBody>
                  <a:tcPr>
                    <a:solidFill>
                      <a:srgbClr val="E5E9DA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201D"/>
                          </a:solidFill>
                          <a:latin typeface="IBM Plex Sans SemiBold"/>
                        </a:defRPr>
                      </a:pPr>
                      <a:r>
                        <a:rPr dirty="0"/>
                        <a:t>R-003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01D"/>
                          </a:solidFill>
                          <a:latin typeface="IBM Plex Sans"/>
                        </a:defRPr>
                      </a:pPr>
                      <a:r>
                        <a:rPr dirty="0"/>
                        <a:t>Feed query latency under high concurrent traffic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01D"/>
                          </a:solidFill>
                          <a:latin typeface="IBM Plex Sans"/>
                        </a:defRPr>
                      </a:pPr>
                      <a:r>
                        <a:rPr dirty="0"/>
                        <a:t>Technical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26A3D"/>
                          </a:solidFill>
                          <a:latin typeface="IBM Plex Sans SemiBold"/>
                        </a:defRPr>
                      </a:pPr>
                      <a:r>
                        <a:rPr dirty="0"/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01D"/>
                          </a:solidFill>
                          <a:latin typeface="IBM Plex Sans"/>
                        </a:defRPr>
                      </a:pPr>
                      <a:r>
                        <a:rPr dirty="0"/>
                        <a:t>Compound </a:t>
                      </a:r>
                      <a:r>
                        <a:rPr dirty="0" err="1"/>
                        <a:t>MongoDB</a:t>
                      </a:r>
                      <a:r>
                        <a:rPr dirty="0"/>
                        <a:t> indexes on {</a:t>
                      </a:r>
                      <a:r>
                        <a:rPr dirty="0" err="1"/>
                        <a:t>userId</a:t>
                      </a:r>
                      <a:r>
                        <a:rPr dirty="0"/>
                        <a:t>, </a:t>
                      </a:r>
                      <a:r>
                        <a:rPr dirty="0" err="1"/>
                        <a:t>createdAt</a:t>
                      </a:r>
                      <a:r>
                        <a:rPr dirty="0"/>
                        <a:t>} with cursor pagination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59669"/>
                          </a:solidFill>
                          <a:latin typeface="IBM Plex Sans SemiBold"/>
                        </a:defRPr>
                      </a:pPr>
                      <a:r>
                        <a:rPr dirty="0"/>
                        <a:t>Resolved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201D"/>
                          </a:solidFill>
                          <a:latin typeface="IBM Plex Sans SemiBold"/>
                        </a:defRPr>
                      </a:pPr>
                      <a:r>
                        <a:rPr dirty="0"/>
                        <a:t>R-004</a:t>
                      </a:r>
                    </a:p>
                  </a:txBody>
                  <a:tcPr>
                    <a:solidFill>
                      <a:srgbClr val="E5E9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01D"/>
                          </a:solidFill>
                          <a:latin typeface="IBM Plex Sans"/>
                        </a:defRPr>
                      </a:pPr>
                      <a:r>
                        <a:rPr dirty="0"/>
                        <a:t>Cross-Site Scripting (XSS) in post descriptions</a:t>
                      </a:r>
                    </a:p>
                  </a:txBody>
                  <a:tcPr>
                    <a:solidFill>
                      <a:srgbClr val="E5E9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01D"/>
                          </a:solidFill>
                          <a:latin typeface="IBM Plex Sans"/>
                        </a:defRPr>
                      </a:pPr>
                      <a:r>
                        <a:rPr dirty="0"/>
                        <a:t>Security</a:t>
                      </a:r>
                    </a:p>
                  </a:txBody>
                  <a:tcPr>
                    <a:solidFill>
                      <a:srgbClr val="E5E9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26A3D"/>
                          </a:solidFill>
                          <a:latin typeface="IBM Plex Sans SemiBold"/>
                        </a:defRPr>
                      </a:pPr>
                      <a:r>
                        <a:rPr dirty="0"/>
                        <a:t>High</a:t>
                      </a:r>
                    </a:p>
                  </a:txBody>
                  <a:tcPr>
                    <a:solidFill>
                      <a:srgbClr val="E5E9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01D"/>
                          </a:solidFill>
                          <a:latin typeface="IBM Plex Sans"/>
                        </a:defRPr>
                      </a:pPr>
                      <a:r>
                        <a:rPr dirty="0" err="1"/>
                        <a:t>PostDecorator</a:t>
                      </a:r>
                      <a:r>
                        <a:rPr dirty="0"/>
                        <a:t> sanitization layer, regex strip, and </a:t>
                      </a:r>
                      <a:r>
                        <a:rPr dirty="0" err="1"/>
                        <a:t>DOMPurify</a:t>
                      </a:r>
                      <a:r>
                        <a:rPr dirty="0"/>
                        <a:t> HTML escaping</a:t>
                      </a:r>
                    </a:p>
                  </a:txBody>
                  <a:tcPr>
                    <a:solidFill>
                      <a:srgbClr val="E5E9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59669"/>
                          </a:solidFill>
                          <a:latin typeface="IBM Plex Sans SemiBold"/>
                        </a:defRPr>
                      </a:pPr>
                      <a:r>
                        <a:rPr dirty="0"/>
                        <a:t>Resolved</a:t>
                      </a:r>
                    </a:p>
                  </a:txBody>
                  <a:tcPr>
                    <a:solidFill>
                      <a:srgbClr val="E5E9DA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201D"/>
                          </a:solidFill>
                          <a:latin typeface="IBM Plex Sans SemiBold"/>
                        </a:defRPr>
                      </a:pPr>
                      <a:r>
                        <a:rPr dirty="0"/>
                        <a:t>R-005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01D"/>
                          </a:solidFill>
                          <a:latin typeface="IBM Plex Sans"/>
                        </a:defRPr>
                      </a:pPr>
                      <a:r>
                        <a:rPr dirty="0" err="1"/>
                        <a:t>Cloudinary</a:t>
                      </a:r>
                      <a:r>
                        <a:rPr dirty="0"/>
                        <a:t> image upload timeouts on large payload files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01D"/>
                          </a:solidFill>
                          <a:latin typeface="IBM Plex Sans"/>
                        </a:defRPr>
                      </a:pPr>
                      <a:r>
                        <a:rPr dirty="0"/>
                        <a:t>Performance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201D"/>
                          </a:solidFill>
                          <a:latin typeface="IBM Plex Sans SemiBold"/>
                        </a:defRPr>
                      </a:pPr>
                      <a:r>
                        <a:rPr dirty="0"/>
                        <a:t>Med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01D"/>
                          </a:solidFill>
                          <a:latin typeface="IBM Plex Sans"/>
                        </a:defRPr>
                      </a:pPr>
                      <a:r>
                        <a:rPr dirty="0"/>
                        <a:t>Client-side image compression and buffered chunk stream uploads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59669"/>
                          </a:solidFill>
                          <a:latin typeface="IBM Plex Sans SemiBold"/>
                        </a:defRPr>
                      </a:pPr>
                      <a:r>
                        <a:rPr dirty="0"/>
                        <a:t>Resolved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201D"/>
                          </a:solidFill>
                          <a:latin typeface="IBM Plex Sans SemiBold"/>
                        </a:defRPr>
                      </a:pPr>
                      <a:r>
                        <a:rPr dirty="0"/>
                        <a:t>R-006</a:t>
                      </a:r>
                    </a:p>
                  </a:txBody>
                  <a:tcPr>
                    <a:solidFill>
                      <a:srgbClr val="E5E9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01D"/>
                          </a:solidFill>
                          <a:latin typeface="IBM Plex Sans"/>
                        </a:defRPr>
                      </a:pPr>
                      <a:r>
                        <a:rPr dirty="0"/>
                        <a:t>Cross-browser mobile viewport and layout inconsistencies</a:t>
                      </a:r>
                    </a:p>
                  </a:txBody>
                  <a:tcPr>
                    <a:solidFill>
                      <a:srgbClr val="E5E9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01D"/>
                          </a:solidFill>
                          <a:latin typeface="IBM Plex Sans"/>
                        </a:defRPr>
                      </a:pPr>
                      <a:r>
                        <a:rPr dirty="0"/>
                        <a:t>UI/UX</a:t>
                      </a:r>
                    </a:p>
                  </a:txBody>
                  <a:tcPr>
                    <a:solidFill>
                      <a:srgbClr val="E5E9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201D"/>
                          </a:solidFill>
                          <a:latin typeface="IBM Plex Sans SemiBold"/>
                        </a:defRPr>
                      </a:pPr>
                      <a:r>
                        <a:rPr dirty="0"/>
                        <a:t>Med</a:t>
                      </a:r>
                    </a:p>
                  </a:txBody>
                  <a:tcPr>
                    <a:solidFill>
                      <a:srgbClr val="E5E9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01D"/>
                          </a:solidFill>
                          <a:latin typeface="IBM Plex Sans"/>
                        </a:defRPr>
                      </a:pPr>
                      <a:r>
                        <a:rPr dirty="0"/>
                        <a:t>Tailwind CSS mobile-first responsive utilities and multi-device automated testing</a:t>
                      </a:r>
                    </a:p>
                  </a:txBody>
                  <a:tcPr>
                    <a:solidFill>
                      <a:srgbClr val="E5E9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59669"/>
                          </a:solidFill>
                          <a:latin typeface="IBM Plex Sans SemiBold"/>
                        </a:defRPr>
                      </a:pPr>
                      <a:r>
                        <a:rPr dirty="0"/>
                        <a:t>Resolved</a:t>
                      </a:r>
                    </a:p>
                  </a:txBody>
                  <a:tcPr>
                    <a:solidFill>
                      <a:srgbClr val="E5E9DA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201D"/>
                          </a:solidFill>
                          <a:latin typeface="IBM Plex Sans SemiBold"/>
                        </a:defRPr>
                      </a:pPr>
                      <a:r>
                        <a:rPr dirty="0"/>
                        <a:t>R-007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01D"/>
                          </a:solidFill>
                          <a:latin typeface="IBM Plex Sans"/>
                        </a:defRPr>
                      </a:pPr>
                      <a:r>
                        <a:rPr dirty="0"/>
                        <a:t>Third-party SMTP email delivery timeouts or rate limits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01D"/>
                          </a:solidFill>
                          <a:latin typeface="IBM Plex Sans"/>
                        </a:defRPr>
                      </a:pPr>
                      <a:r>
                        <a:rPr dirty="0"/>
                        <a:t>Operational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201D"/>
                          </a:solidFill>
                          <a:latin typeface="IBM Plex Sans SemiBold"/>
                        </a:defRPr>
                      </a:pPr>
                      <a:r>
                        <a:rPr dirty="0"/>
                        <a:t>Med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01D"/>
                          </a:solidFill>
                          <a:latin typeface="IBM Plex Sans"/>
                        </a:defRPr>
                      </a:pPr>
                      <a:r>
                        <a:rPr dirty="0"/>
                        <a:t>Adapter Pattern (</a:t>
                      </a:r>
                      <a:r>
                        <a:rPr dirty="0" err="1"/>
                        <a:t>EmailServiceAdapter</a:t>
                      </a:r>
                      <a:r>
                        <a:rPr dirty="0"/>
                        <a:t>) with fallback console logger for </a:t>
                      </a:r>
                      <a:r>
                        <a:rPr dirty="0" err="1"/>
                        <a:t>dev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59669"/>
                          </a:solidFill>
                          <a:latin typeface="IBM Plex Sans SemiBold"/>
                        </a:defRPr>
                      </a:pPr>
                      <a:r>
                        <a:rPr dirty="0"/>
                        <a:t>Resolved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Oval 5"/>
          <p:cNvSpPr/>
          <p:nvPr/>
        </p:nvSpPr>
        <p:spPr>
          <a:xfrm>
            <a:off x="10954693" y="6547104"/>
            <a:ext cx="1237307" cy="31089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38912"/>
            <a:ext cx="1127455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0A7C78"/>
                </a:solidFill>
                <a:latin typeface="IBM Plex Sans SemiBold"/>
              </a:defRPr>
            </a:pPr>
            <a:r>
              <a:rPr dirty="0"/>
              <a:t>10 ·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11274552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10201D"/>
                </a:solidFill>
                <a:latin typeface="Sora Bold"/>
              </a:defRPr>
            </a:pPr>
            <a:r>
              <a:rPr dirty="0"/>
              <a:t>Decoupled 3-Tier MERN stack with event-driven sockets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23377"/>
            <a:ext cx="11274552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>
                <a:solidFill>
                  <a:srgbClr val="10201D"/>
                </a:solidFill>
                <a:latin typeface="IBM Plex Sans"/>
              </a:defRPr>
            </a:pPr>
            <a:r>
              <a:rPr dirty="0"/>
              <a:t>Clean separation of client presentation, </a:t>
            </a:r>
            <a:r>
              <a:rPr dirty="0" err="1"/>
              <a:t>RESTful</a:t>
            </a:r>
            <a:r>
              <a:rPr dirty="0"/>
              <a:t> business services, and database persistence.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965960"/>
            <a:ext cx="68580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6" name="Picture 5" descr="linkpro_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57400"/>
            <a:ext cx="6675120" cy="42976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965960"/>
            <a:ext cx="4233672" cy="1371600"/>
          </a:xfrm>
          <a:prstGeom prst="roundRect">
            <a:avLst/>
          </a:prstGeom>
          <a:solidFill>
            <a:srgbClr val="E5E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ctr"/>
          <a:lstStyle/>
          <a:p>
            <a:pPr algn="ctr">
              <a:defRPr sz="1500" b="1">
                <a:solidFill>
                  <a:srgbClr val="10201D"/>
                </a:solidFill>
                <a:latin typeface="IBM Plex Sans SemiBold"/>
              </a:defRPr>
            </a:pPr>
            <a:r>
              <a:rPr dirty="0"/>
              <a:t>Client Tier (React 18 SPA)</a:t>
            </a:r>
          </a:p>
          <a:p>
            <a:pPr>
              <a:spcBef>
                <a:spcPts val="200"/>
              </a:spcBef>
              <a:defRPr sz="1000">
                <a:solidFill>
                  <a:srgbClr val="0A7C78"/>
                </a:solidFill>
                <a:latin typeface="IBM Plex Sans SemiBold"/>
              </a:defRPr>
            </a:pPr>
            <a:r>
              <a:rPr dirty="0" err="1"/>
              <a:t>Vite</a:t>
            </a:r>
            <a:r>
              <a:rPr dirty="0"/>
              <a:t> · Tailwind CSS · </a:t>
            </a:r>
            <a:r>
              <a:rPr dirty="0" err="1"/>
              <a:t>Axios</a:t>
            </a:r>
            <a:r>
              <a:rPr dirty="0"/>
              <a:t> · Socket.io Client</a:t>
            </a:r>
          </a:p>
          <a:p>
            <a:pPr>
              <a:spcBef>
                <a:spcPts val="400"/>
              </a:spcBef>
              <a:defRPr sz="1150">
                <a:solidFill>
                  <a:srgbClr val="10201D"/>
                </a:solidFill>
                <a:latin typeface="IBM Plex Sans"/>
              </a:defRPr>
            </a:pPr>
            <a:r>
              <a:rPr dirty="0"/>
              <a:t>Global state in </a:t>
            </a:r>
            <a:r>
              <a:rPr dirty="0" err="1"/>
              <a:t>AuthContext</a:t>
            </a:r>
            <a:r>
              <a:rPr dirty="0"/>
              <a:t> &amp; </a:t>
            </a:r>
            <a:r>
              <a:rPr dirty="0" err="1"/>
              <a:t>SocketState</a:t>
            </a:r>
            <a:r>
              <a:rPr dirty="0"/>
              <a:t>; responsive utility layout; sub-second SPA client transitions.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3520440"/>
            <a:ext cx="4233672" cy="1371600"/>
          </a:xfrm>
          <a:prstGeom prst="roundRect">
            <a:avLst/>
          </a:prstGeom>
          <a:solidFill>
            <a:srgbClr val="083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IBM Plex Sans SemiBold"/>
              </a:defRPr>
            </a:pPr>
            <a:r>
              <a:rPr dirty="0"/>
              <a:t>Application Tier (Node.js &amp; Express)</a:t>
            </a:r>
          </a:p>
          <a:p>
            <a:pPr>
              <a:spcBef>
                <a:spcPts val="200"/>
              </a:spcBef>
              <a:defRPr sz="1000">
                <a:solidFill>
                  <a:srgbClr val="55D9CB"/>
                </a:solidFill>
                <a:latin typeface="IBM Plex Sans SemiBold"/>
              </a:defRPr>
            </a:pPr>
            <a:r>
              <a:rPr dirty="0" err="1"/>
              <a:t>RESTful</a:t>
            </a:r>
            <a:r>
              <a:rPr dirty="0"/>
              <a:t> APIs · JWT Middleware · </a:t>
            </a:r>
            <a:r>
              <a:rPr dirty="0" err="1"/>
              <a:t>GoF</a:t>
            </a:r>
            <a:r>
              <a:rPr dirty="0"/>
              <a:t> Services</a:t>
            </a:r>
          </a:p>
          <a:p>
            <a:pPr>
              <a:spcBef>
                <a:spcPts val="400"/>
              </a:spcBef>
              <a:defRPr sz="1150">
                <a:solidFill>
                  <a:srgbClr val="DCE4DD"/>
                </a:solidFill>
                <a:latin typeface="IBM Plex Sans"/>
              </a:defRPr>
            </a:pPr>
            <a:r>
              <a:rPr dirty="0" err="1"/>
              <a:t>PostFacade</a:t>
            </a:r>
            <a:r>
              <a:rPr dirty="0"/>
              <a:t> coordinates multi-stage post workflows; Factory alert creation; 65% leaner controllers.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5074920"/>
            <a:ext cx="4233672" cy="1371600"/>
          </a:xfrm>
          <a:prstGeom prst="roundRect">
            <a:avLst/>
          </a:prstGeom>
          <a:solidFill>
            <a:srgbClr val="E5E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ctr"/>
          <a:lstStyle/>
          <a:p>
            <a:pPr algn="ctr">
              <a:defRPr sz="1500" b="1">
                <a:solidFill>
                  <a:srgbClr val="10201D"/>
                </a:solidFill>
                <a:latin typeface="IBM Plex Sans SemiBold"/>
              </a:defRPr>
            </a:pPr>
            <a:r>
              <a:rPr dirty="0"/>
              <a:t>Data Tier &amp; Cloud Services</a:t>
            </a:r>
          </a:p>
          <a:p>
            <a:pPr>
              <a:spcBef>
                <a:spcPts val="200"/>
              </a:spcBef>
              <a:defRPr sz="1000">
                <a:solidFill>
                  <a:srgbClr val="0A7C78"/>
                </a:solidFill>
                <a:latin typeface="IBM Plex Sans SemiBold"/>
              </a:defRPr>
            </a:pPr>
            <a:r>
              <a:rPr dirty="0" err="1"/>
              <a:t>MongoDB</a:t>
            </a:r>
            <a:r>
              <a:rPr dirty="0"/>
              <a:t> Atlas · </a:t>
            </a:r>
            <a:r>
              <a:rPr dirty="0" err="1"/>
              <a:t>Cloudinary</a:t>
            </a:r>
            <a:r>
              <a:rPr dirty="0"/>
              <a:t> CDN · Gemini AI</a:t>
            </a:r>
          </a:p>
          <a:p>
            <a:pPr>
              <a:spcBef>
                <a:spcPts val="400"/>
              </a:spcBef>
              <a:defRPr sz="1150">
                <a:solidFill>
                  <a:srgbClr val="10201D"/>
                </a:solidFill>
                <a:latin typeface="IBM Plex Sans"/>
              </a:defRPr>
            </a:pPr>
            <a:r>
              <a:rPr dirty="0"/>
              <a:t>Mongoose ODM with compound indexing; </a:t>
            </a:r>
            <a:r>
              <a:rPr dirty="0" err="1"/>
              <a:t>Cloudinary</a:t>
            </a:r>
            <a:r>
              <a:rPr dirty="0"/>
              <a:t> CDN media streaming; Google Gemini AI assistant.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20" y="1965960"/>
            <a:ext cx="6766560" cy="448056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1" name="Oval 10"/>
          <p:cNvSpPr/>
          <p:nvPr/>
        </p:nvSpPr>
        <p:spPr>
          <a:xfrm>
            <a:off x="10954693" y="6547104"/>
            <a:ext cx="1237307" cy="31089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38912"/>
            <a:ext cx="11274552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0A7C78"/>
                </a:solidFill>
                <a:latin typeface="IBM Plex Sans SemiBold"/>
              </a:defRPr>
            </a:pPr>
            <a:r>
              <a:rPr dirty="0" smtClean="0"/>
              <a:t>1</a:t>
            </a:r>
            <a:r>
              <a:rPr lang="en-US" dirty="0" smtClean="0"/>
              <a:t>1</a:t>
            </a:r>
            <a:r>
              <a:rPr dirty="0" smtClean="0"/>
              <a:t> </a:t>
            </a:r>
            <a:r>
              <a:rPr dirty="0"/>
              <a:t>· SOLID PRINCIPLES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11274552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10201D"/>
                </a:solidFill>
                <a:latin typeface="Sora Bold"/>
              </a:defRPr>
            </a:pPr>
            <a:r>
              <a:rPr dirty="0"/>
              <a:t>Architectural refactoring eliminates code smells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89888"/>
            <a:ext cx="11274552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>
                <a:solidFill>
                  <a:srgbClr val="10201D"/>
                </a:solidFill>
                <a:latin typeface="IBM Plex Sans"/>
              </a:defRPr>
            </a:pPr>
            <a:r>
              <a:rPr dirty="0"/>
              <a:t>Six dedicated refactoring interventions transformed monolithic controllers into cohesive, testable services.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965960"/>
          <a:ext cx="11274552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86000"/>
                <a:gridCol w="4114800"/>
                <a:gridCol w="2862072"/>
              </a:tblGrid>
              <a:tr h="7391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IBM Plex Sans SemiBold"/>
                        </a:defRPr>
                      </a:pPr>
                      <a:r>
                        <a:rPr dirty="0"/>
                        <a:t>Principle</a:t>
                      </a:r>
                    </a:p>
                  </a:txBody>
                  <a:tcPr>
                    <a:solidFill>
                      <a:srgbClr val="083C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IBM Plex Sans SemiBold"/>
                        </a:defRPr>
                      </a:pPr>
                      <a:r>
                        <a:rPr dirty="0"/>
                        <a:t>Code Smell &amp; Location</a:t>
                      </a:r>
                    </a:p>
                  </a:txBody>
                  <a:tcPr>
                    <a:solidFill>
                      <a:srgbClr val="083C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IBM Plex Sans SemiBold"/>
                        </a:defRPr>
                      </a:pPr>
                      <a:r>
                        <a:rPr dirty="0"/>
                        <a:t>Refactoring Applied in </a:t>
                      </a:r>
                      <a:r>
                        <a:rPr dirty="0" err="1"/>
                        <a:t>LinkPro</a:t>
                      </a:r>
                      <a:endParaRPr dirty="0"/>
                    </a:p>
                  </a:txBody>
                  <a:tcPr>
                    <a:solidFill>
                      <a:srgbClr val="083C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IBM Plex Sans SemiBold"/>
                        </a:defRPr>
                      </a:pPr>
                      <a:r>
                        <a:rPr dirty="0"/>
                        <a:t>Engineering Impact</a:t>
                      </a:r>
                    </a:p>
                  </a:txBody>
                  <a:tcPr>
                    <a:solidFill>
                      <a:srgbClr val="083C35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83C35"/>
                          </a:solidFill>
                          <a:latin typeface="IBM Plex Sans SemiBold"/>
                        </a:defRPr>
                      </a:pPr>
                      <a:r>
                        <a:rPr dirty="0"/>
                        <a:t>Single Responsibility (SRP)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01D"/>
                          </a:solidFill>
                          <a:latin typeface="IBM Plex Sans"/>
                        </a:defRPr>
                      </a:pPr>
                      <a:r>
                        <a:rPr dirty="0"/>
                        <a:t>REFACTOR-001: God Controller in postController.js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01D"/>
                          </a:solidFill>
                          <a:latin typeface="IBM Plex Sans"/>
                        </a:defRPr>
                      </a:pPr>
                      <a:r>
                        <a:rPr dirty="0"/>
                        <a:t>Extracted PostFacade.js to isolate </a:t>
                      </a:r>
                      <a:r>
                        <a:rPr dirty="0" err="1"/>
                        <a:t>Cloudinary</a:t>
                      </a:r>
                      <a:r>
                        <a:rPr dirty="0"/>
                        <a:t> streaming, DB saving, and socket alerts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A7C78"/>
                          </a:solidFill>
                          <a:latin typeface="IBM Plex Sans SemiBold"/>
                        </a:defRPr>
                      </a:pPr>
                      <a:r>
                        <a:rPr dirty="0"/>
                        <a:t>Reduced </a:t>
                      </a:r>
                      <a:r>
                        <a:rPr dirty="0" err="1"/>
                        <a:t>postController</a:t>
                      </a:r>
                      <a:r>
                        <a:rPr dirty="0"/>
                        <a:t> complexity by 65%; clean HTTP delegation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83C35"/>
                          </a:solidFill>
                          <a:latin typeface="IBM Plex Sans SemiBold"/>
                        </a:defRPr>
                      </a:pPr>
                      <a:r>
                        <a:rPr dirty="0"/>
                        <a:t>Open / Closed (OCP)</a:t>
                      </a:r>
                    </a:p>
                  </a:txBody>
                  <a:tcPr>
                    <a:solidFill>
                      <a:srgbClr val="E5E9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01D"/>
                          </a:solidFill>
                          <a:latin typeface="IBM Plex Sans"/>
                        </a:defRPr>
                      </a:pPr>
                      <a:r>
                        <a:rPr dirty="0"/>
                        <a:t>REFACTOR-002: Shotgun Surgery in notification triggers</a:t>
                      </a:r>
                    </a:p>
                  </a:txBody>
                  <a:tcPr>
                    <a:solidFill>
                      <a:srgbClr val="E5E9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01D"/>
                          </a:solidFill>
                          <a:latin typeface="IBM Plex Sans"/>
                        </a:defRPr>
                      </a:pPr>
                      <a:r>
                        <a:rPr dirty="0"/>
                        <a:t>Created NotificationFactory.js with creator subclasses for Like, Comment, and Requests</a:t>
                      </a:r>
                    </a:p>
                  </a:txBody>
                  <a:tcPr>
                    <a:solidFill>
                      <a:srgbClr val="E5E9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A7C78"/>
                          </a:solidFill>
                          <a:latin typeface="IBM Plex Sans SemiBold"/>
                        </a:defRPr>
                      </a:pPr>
                      <a:r>
                        <a:rPr dirty="0"/>
                        <a:t>New notifications added without modifying existing controller methods</a:t>
                      </a:r>
                    </a:p>
                  </a:txBody>
                  <a:tcPr>
                    <a:solidFill>
                      <a:srgbClr val="E5E9DA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83C35"/>
                          </a:solidFill>
                          <a:latin typeface="IBM Plex Sans SemiBold"/>
                        </a:defRPr>
                      </a:pPr>
                      <a:r>
                        <a:rPr dirty="0" err="1"/>
                        <a:t>Liskov</a:t>
                      </a:r>
                      <a:r>
                        <a:rPr dirty="0"/>
                        <a:t> Substitution (LSP)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01D"/>
                          </a:solidFill>
                          <a:latin typeface="IBM Plex Sans"/>
                        </a:defRPr>
                      </a:pPr>
                      <a:r>
                        <a:rPr dirty="0"/>
                        <a:t>REFACTOR-006: Subtype Inconsistency in </a:t>
                      </a:r>
                      <a:r>
                        <a:rPr dirty="0" err="1"/>
                        <a:t>BasePostContent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01D"/>
                          </a:solidFill>
                          <a:latin typeface="IBM Plex Sans"/>
                        </a:defRPr>
                      </a:pPr>
                      <a:r>
                        <a:rPr dirty="0"/>
                        <a:t>Post decorators (Sanitizer, Hashtags) fully substitute </a:t>
                      </a:r>
                      <a:r>
                        <a:rPr dirty="0" err="1"/>
                        <a:t>BasePostContent</a:t>
                      </a:r>
                      <a:r>
                        <a:rPr dirty="0"/>
                        <a:t> without errors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A7C78"/>
                          </a:solidFill>
                          <a:latin typeface="IBM Plex Sans SemiBold"/>
                        </a:defRPr>
                      </a:pPr>
                      <a:r>
                        <a:rPr dirty="0"/>
                        <a:t>Ensured polymorphic safety across post creation and feed pipelines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83C35"/>
                          </a:solidFill>
                          <a:latin typeface="IBM Plex Sans SemiBold"/>
                        </a:defRPr>
                      </a:pPr>
                      <a:r>
                        <a:rPr dirty="0"/>
                        <a:t>Interface Segregation (ISP)</a:t>
                      </a:r>
                    </a:p>
                  </a:txBody>
                  <a:tcPr>
                    <a:solidFill>
                      <a:srgbClr val="E5E9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01D"/>
                          </a:solidFill>
                          <a:latin typeface="IBM Plex Sans"/>
                        </a:defRPr>
                      </a:pPr>
                      <a:r>
                        <a:rPr dirty="0"/>
                        <a:t>REFACTOR-004: Monolithic connection script in db.js</a:t>
                      </a:r>
                    </a:p>
                  </a:txBody>
                  <a:tcPr>
                    <a:solidFill>
                      <a:srgbClr val="E5E9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01D"/>
                          </a:solidFill>
                          <a:latin typeface="IBM Plex Sans"/>
                        </a:defRPr>
                      </a:pPr>
                      <a:r>
                        <a:rPr dirty="0"/>
                        <a:t>Separated connection pooling, health checks, and query indexes into discrete interfaces</a:t>
                      </a:r>
                    </a:p>
                  </a:txBody>
                  <a:tcPr>
                    <a:solidFill>
                      <a:srgbClr val="E5E9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A7C78"/>
                          </a:solidFill>
                          <a:latin typeface="IBM Plex Sans SemiBold"/>
                        </a:defRPr>
                      </a:pPr>
                      <a:r>
                        <a:rPr dirty="0"/>
                        <a:t>Eliminated redundant open sockets; reduced server boot time by 40%</a:t>
                      </a:r>
                    </a:p>
                  </a:txBody>
                  <a:tcPr>
                    <a:solidFill>
                      <a:srgbClr val="E5E9DA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83C35"/>
                          </a:solidFill>
                          <a:latin typeface="IBM Plex Sans SemiBold"/>
                        </a:defRPr>
                      </a:pPr>
                      <a:r>
                        <a:rPr dirty="0"/>
                        <a:t>Dependency Inversion (DIP)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01D"/>
                          </a:solidFill>
                          <a:latin typeface="IBM Plex Sans"/>
                        </a:defRPr>
                      </a:pPr>
                      <a:r>
                        <a:rPr dirty="0"/>
                        <a:t>REFACTOR-006: Tight coupling to </a:t>
                      </a:r>
                      <a:r>
                        <a:rPr dirty="0" err="1"/>
                        <a:t>Nodemailer</a:t>
                      </a:r>
                      <a:r>
                        <a:rPr dirty="0"/>
                        <a:t> in </a:t>
                      </a:r>
                      <a:r>
                        <a:rPr dirty="0" err="1"/>
                        <a:t>authController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01D"/>
                          </a:solidFill>
                          <a:latin typeface="IBM Plex Sans"/>
                        </a:defRPr>
                      </a:pPr>
                      <a:r>
                        <a:rPr dirty="0"/>
                        <a:t>Introduced </a:t>
                      </a:r>
                      <a:r>
                        <a:rPr dirty="0" err="1"/>
                        <a:t>EmailClientInterface</a:t>
                      </a:r>
                      <a:r>
                        <a:rPr dirty="0"/>
                        <a:t> with </a:t>
                      </a:r>
                      <a:r>
                        <a:rPr dirty="0" err="1"/>
                        <a:t>NodemailerAdapter</a:t>
                      </a:r>
                      <a:r>
                        <a:rPr dirty="0"/>
                        <a:t> and </a:t>
                      </a:r>
                      <a:r>
                        <a:rPr dirty="0" err="1"/>
                        <a:t>DevConsoleEmailAdapter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A7C78"/>
                          </a:solidFill>
                          <a:latin typeface="IBM Plex Sans SemiBold"/>
                        </a:defRPr>
                      </a:pPr>
                      <a:r>
                        <a:rPr dirty="0"/>
                        <a:t>Decoupled SMTP transport; enabled mock adapter substitution for testing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Oval 5"/>
          <p:cNvSpPr/>
          <p:nvPr/>
        </p:nvSpPr>
        <p:spPr>
          <a:xfrm>
            <a:off x="10954693" y="6547104"/>
            <a:ext cx="1237307" cy="31089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38912"/>
            <a:ext cx="11274552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0A7C78"/>
                </a:solidFill>
                <a:latin typeface="IBM Plex Sans SemiBold"/>
              </a:defRPr>
            </a:pPr>
            <a:r>
              <a:rPr dirty="0" smtClean="0"/>
              <a:t>1</a:t>
            </a:r>
            <a:r>
              <a:rPr lang="en-US" dirty="0" smtClean="0"/>
              <a:t>2</a:t>
            </a:r>
            <a:r>
              <a:rPr dirty="0" smtClean="0"/>
              <a:t> </a:t>
            </a:r>
            <a:r>
              <a:rPr dirty="0"/>
              <a:t>· DESIGN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11274552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10201D"/>
                </a:solidFill>
                <a:latin typeface="Sora Bold"/>
              </a:defRPr>
            </a:pPr>
            <a:r>
              <a:rPr dirty="0"/>
              <a:t>Nine </a:t>
            </a:r>
            <a:r>
              <a:rPr dirty="0" err="1"/>
              <a:t>GoF</a:t>
            </a:r>
            <a:r>
              <a:rPr dirty="0"/>
              <a:t> patterns across architectural 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89888"/>
            <a:ext cx="11274552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>
                <a:solidFill>
                  <a:srgbClr val="10201D"/>
                </a:solidFill>
                <a:latin typeface="IBM Plex Sans"/>
              </a:defRPr>
            </a:pPr>
            <a:r>
              <a:rPr dirty="0"/>
              <a:t>Creational, Structural, and Behavioral patterns engineered for maintainability, decoupling, and runtime extensibility.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965960"/>
            <a:ext cx="5303520" cy="1371600"/>
          </a:xfrm>
          <a:prstGeom prst="roundRect">
            <a:avLst/>
          </a:prstGeom>
          <a:solidFill>
            <a:srgbClr val="083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46304" rIns="146304" bIns="146304" rtlCol="0" anchor="ctr"/>
          <a:lstStyle/>
          <a:p>
            <a:pPr algn="ctr">
              <a:defRPr sz="1400" b="1">
                <a:solidFill>
                  <a:srgbClr val="55D9CB"/>
                </a:solidFill>
                <a:latin typeface="IBM Plex Sans SemiBold"/>
              </a:defRPr>
            </a:pPr>
            <a:r>
              <a:rPr dirty="0"/>
              <a:t>1. Creational Patterns</a:t>
            </a:r>
          </a:p>
          <a:p>
            <a:pPr>
              <a:spcBef>
                <a:spcPts val="300"/>
              </a:spcBef>
              <a:defRPr sz="1050">
                <a:solidFill>
                  <a:srgbClr val="FFFFFF"/>
                </a:solidFill>
                <a:latin typeface="IBM Plex Sans"/>
              </a:defRPr>
            </a:pPr>
            <a:r>
              <a:rPr dirty="0"/>
              <a:t>• Singleton (DatabaseConnection.js): Shared Mongoose pool; zero socket leaks.</a:t>
            </a:r>
            <a:br>
              <a:rPr dirty="0"/>
            </a:br>
            <a:r>
              <a:rPr dirty="0"/>
              <a:t>• Factory Method (NotificationFactory.js): Instantiates Like/Comment alerts.</a:t>
            </a:r>
            <a:br>
              <a:rPr dirty="0"/>
            </a:br>
            <a:r>
              <a:rPr dirty="0"/>
              <a:t>• Builder (PostBuilder.js): Step-by-step assembly of complex rich posts.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520440"/>
            <a:ext cx="5303520" cy="1371600"/>
          </a:xfrm>
          <a:prstGeom prst="roundRect">
            <a:avLst/>
          </a:prstGeom>
          <a:solidFill>
            <a:srgbClr val="E5E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46304" rIns="146304" bIns="146304" rtlCol="0" anchor="ctr"/>
          <a:lstStyle/>
          <a:p>
            <a:pPr algn="ctr">
              <a:defRPr sz="1400" b="1">
                <a:solidFill>
                  <a:srgbClr val="083C35"/>
                </a:solidFill>
                <a:latin typeface="IBM Plex Sans SemiBold"/>
              </a:defRPr>
            </a:pPr>
            <a:r>
              <a:rPr dirty="0"/>
              <a:t>2. Structural Patterns</a:t>
            </a:r>
          </a:p>
          <a:p>
            <a:pPr>
              <a:spcBef>
                <a:spcPts val="300"/>
              </a:spcBef>
              <a:defRPr sz="1050">
                <a:solidFill>
                  <a:srgbClr val="10201D"/>
                </a:solidFill>
                <a:latin typeface="IBM Plex Sans"/>
              </a:defRPr>
            </a:pPr>
            <a:r>
              <a:rPr dirty="0"/>
              <a:t>• Facade (PostFacade.js): Unified interface orchestrating media, DB &amp; alerts.</a:t>
            </a:r>
            <a:br>
              <a:rPr dirty="0"/>
            </a:br>
            <a:r>
              <a:rPr dirty="0"/>
              <a:t>• Adapter (EmailServiceAdapter.js): Decouples </a:t>
            </a:r>
            <a:r>
              <a:rPr dirty="0" err="1"/>
              <a:t>Nodemailer</a:t>
            </a:r>
            <a:r>
              <a:rPr dirty="0"/>
              <a:t> behind interface.</a:t>
            </a:r>
            <a:br>
              <a:rPr dirty="0"/>
            </a:br>
            <a:r>
              <a:rPr dirty="0"/>
              <a:t>• Decorator (PostDecorator.js): Enriches content with sanitization &amp; hashtags.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074920"/>
            <a:ext cx="5303520" cy="1371600"/>
          </a:xfrm>
          <a:prstGeom prst="roundRect">
            <a:avLst/>
          </a:prstGeom>
          <a:solidFill>
            <a:srgbClr val="083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46304" rIns="146304" bIns="146304" rtlCol="0" anchor="ctr"/>
          <a:lstStyle/>
          <a:p>
            <a:pPr algn="ctr">
              <a:defRPr sz="1400" b="1">
                <a:solidFill>
                  <a:srgbClr val="55D9CB"/>
                </a:solidFill>
                <a:latin typeface="IBM Plex Sans SemiBold"/>
              </a:defRPr>
            </a:pPr>
            <a:r>
              <a:rPr dirty="0"/>
              <a:t>3. Behavioral Patterns</a:t>
            </a:r>
          </a:p>
          <a:p>
            <a:pPr>
              <a:spcBef>
                <a:spcPts val="300"/>
              </a:spcBef>
              <a:defRPr sz="1050">
                <a:solidFill>
                  <a:srgbClr val="FFFFFF"/>
                </a:solidFill>
                <a:latin typeface="IBM Plex Sans"/>
              </a:defRPr>
            </a:pPr>
            <a:r>
              <a:rPr dirty="0"/>
              <a:t>• Strategy (FeedStrategy.js): Swappable feed ranking (Network, Admin, Public).</a:t>
            </a:r>
            <a:br>
              <a:rPr dirty="0"/>
            </a:br>
            <a:r>
              <a:rPr dirty="0"/>
              <a:t>• State (ConnectionState.js): Enforces Pending → Connected → Blocked lifecycle.</a:t>
            </a:r>
            <a:br>
              <a:rPr dirty="0"/>
            </a:br>
            <a:r>
              <a:rPr dirty="0"/>
              <a:t>• Observer (NotificationObserver.js): Decouples events from live socket broadcasts.</a:t>
            </a:r>
          </a:p>
        </p:txBody>
      </p:sp>
      <p:sp>
        <p:nvSpPr>
          <p:cNvPr id="13" name="Oval 12"/>
          <p:cNvSpPr/>
          <p:nvPr/>
        </p:nvSpPr>
        <p:spPr>
          <a:xfrm>
            <a:off x="10954693" y="6547104"/>
            <a:ext cx="1237307" cy="31089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9" name="Picture 8" descr="linkpro_uml_fac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057400"/>
            <a:ext cx="5605272" cy="42976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38912"/>
            <a:ext cx="11274552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0A7C78"/>
                </a:solidFill>
                <a:latin typeface="IBM Plex Sans SemiBold"/>
              </a:defRPr>
            </a:pPr>
            <a:r>
              <a:rPr dirty="0" smtClean="0"/>
              <a:t>1</a:t>
            </a:r>
            <a:r>
              <a:rPr lang="en-US" dirty="0"/>
              <a:t>3</a:t>
            </a:r>
            <a:r>
              <a:rPr lang="en-US" dirty="0" smtClean="0"/>
              <a:t> </a:t>
            </a:r>
            <a:r>
              <a:rPr dirty="0" smtClean="0"/>
              <a:t>· </a:t>
            </a:r>
            <a:r>
              <a:rPr dirty="0"/>
              <a:t>QUALITY ASSURANCE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11274552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10201D"/>
                </a:solidFill>
                <a:latin typeface="Sora Bold"/>
              </a:defRPr>
            </a:pPr>
            <a:r>
              <a:rPr dirty="0"/>
              <a:t>Twenty-six test cases verified with zero regressions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89888"/>
            <a:ext cx="11274552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>
                <a:solidFill>
                  <a:srgbClr val="10201D"/>
                </a:solidFill>
                <a:latin typeface="IBM Plex Sans"/>
              </a:defRPr>
            </a:pPr>
            <a:r>
              <a:rPr dirty="0"/>
              <a:t>Formal test execution across Google Chrome client and automated Postman API test collections.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965960"/>
          <a:ext cx="11274551" cy="4536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011680"/>
                <a:gridCol w="2834640"/>
                <a:gridCol w="2468880"/>
                <a:gridCol w="2011680"/>
                <a:gridCol w="1033271"/>
              </a:tblGrid>
              <a:tr h="492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IBM Plex Sans SemiBold"/>
                        </a:defRPr>
                      </a:pPr>
                      <a:r>
                        <a:rPr dirty="0"/>
                        <a:t>Test ID</a:t>
                      </a:r>
                    </a:p>
                  </a:txBody>
                  <a:tcPr>
                    <a:solidFill>
                      <a:srgbClr val="083C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IBM Plex Sans SemiBold"/>
                        </a:defRPr>
                      </a:pPr>
                      <a:r>
                        <a:rPr dirty="0"/>
                        <a:t>Module &amp; Scenario</a:t>
                      </a:r>
                    </a:p>
                  </a:txBody>
                  <a:tcPr>
                    <a:solidFill>
                      <a:srgbClr val="083C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IBM Plex Sans SemiBold"/>
                        </a:defRPr>
                      </a:pPr>
                      <a:r>
                        <a:rPr dirty="0"/>
                        <a:t>Input Test Data</a:t>
                      </a:r>
                    </a:p>
                  </a:txBody>
                  <a:tcPr>
                    <a:solidFill>
                      <a:srgbClr val="083C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IBM Plex Sans SemiBold"/>
                        </a:defRPr>
                      </a:pPr>
                      <a:r>
                        <a:rPr dirty="0"/>
                        <a:t>Expected Result</a:t>
                      </a:r>
                    </a:p>
                  </a:txBody>
                  <a:tcPr>
                    <a:solidFill>
                      <a:srgbClr val="083C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IBM Plex Sans SemiBold"/>
                        </a:defRPr>
                      </a:pPr>
                      <a:r>
                        <a:rPr dirty="0"/>
                        <a:t>Actual Result</a:t>
                      </a:r>
                    </a:p>
                  </a:txBody>
                  <a:tcPr>
                    <a:solidFill>
                      <a:srgbClr val="083C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IBM Plex Sans SemiBold"/>
                        </a:defRPr>
                      </a:pPr>
                      <a:r>
                        <a:rPr dirty="0"/>
                        <a:t>Status</a:t>
                      </a:r>
                    </a:p>
                  </a:txBody>
                  <a:tcPr>
                    <a:solidFill>
                      <a:srgbClr val="083C35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201D"/>
                          </a:solidFill>
                          <a:latin typeface="IBM Plex Sans SemiBold"/>
                        </a:defRPr>
                      </a:pPr>
                      <a:r>
                        <a:rPr dirty="0"/>
                        <a:t>TC-101.1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01D"/>
                          </a:solidFill>
                          <a:latin typeface="IBM Plex Sans"/>
                        </a:defRPr>
                      </a:pPr>
                      <a:r>
                        <a:rPr dirty="0"/>
                        <a:t>Registration: Valid User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01D"/>
                          </a:solidFill>
                          <a:latin typeface="IBM Plex Sans"/>
                        </a:defRPr>
                      </a:pPr>
                      <a:r>
                        <a:rPr dirty="0"/>
                        <a:t>Username: '</a:t>
                      </a:r>
                      <a:r>
                        <a:rPr dirty="0" err="1"/>
                        <a:t>JohnDoe</a:t>
                      </a:r>
                      <a:r>
                        <a:rPr dirty="0"/>
                        <a:t>', Email: 'john@example.com', Password: 'Password123'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01D"/>
                          </a:solidFill>
                          <a:latin typeface="IBM Plex Sans"/>
                        </a:defRPr>
                      </a:pPr>
                      <a:r>
                        <a:rPr dirty="0"/>
                        <a:t>User registered successfully; </a:t>
                      </a:r>
                      <a:r>
                        <a:rPr dirty="0" err="1"/>
                        <a:t>bcrypt</a:t>
                      </a:r>
                      <a:r>
                        <a:rPr dirty="0"/>
                        <a:t> hash stored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01D"/>
                          </a:solidFill>
                          <a:latin typeface="IBM Plex Sans"/>
                        </a:defRPr>
                      </a:pPr>
                      <a:r>
                        <a:rPr dirty="0"/>
                        <a:t>User registered; JWT token issued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59669"/>
                          </a:solidFill>
                          <a:latin typeface="IBM Plex Sans SemiBold"/>
                        </a:defRPr>
                      </a:pPr>
                      <a:r>
                        <a:rPr dirty="0"/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201D"/>
                          </a:solidFill>
                          <a:latin typeface="IBM Plex Sans SemiBold"/>
                        </a:defRPr>
                      </a:pPr>
                      <a:r>
                        <a:rPr dirty="0"/>
                        <a:t>TC-101.2</a:t>
                      </a:r>
                    </a:p>
                  </a:txBody>
                  <a:tcPr>
                    <a:solidFill>
                      <a:srgbClr val="E5E9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01D"/>
                          </a:solidFill>
                          <a:latin typeface="IBM Plex Sans"/>
                        </a:defRPr>
                      </a:pPr>
                      <a:r>
                        <a:rPr dirty="0"/>
                        <a:t>Registration: Duplicate Email</a:t>
                      </a:r>
                    </a:p>
                  </a:txBody>
                  <a:tcPr>
                    <a:solidFill>
                      <a:srgbClr val="E5E9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01D"/>
                          </a:solidFill>
                          <a:latin typeface="IBM Plex Sans"/>
                        </a:defRPr>
                      </a:pPr>
                      <a:r>
                        <a:rPr dirty="0"/>
                        <a:t>Email: 'john@example.com' (already exists)</a:t>
                      </a:r>
                    </a:p>
                  </a:txBody>
                  <a:tcPr>
                    <a:solidFill>
                      <a:srgbClr val="E5E9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01D"/>
                          </a:solidFill>
                          <a:latin typeface="IBM Plex Sans"/>
                        </a:defRPr>
                      </a:pPr>
                      <a:r>
                        <a:rPr dirty="0"/>
                        <a:t>HTTP 400 error: 'Username/Email already exists'</a:t>
                      </a:r>
                    </a:p>
                  </a:txBody>
                  <a:tcPr>
                    <a:solidFill>
                      <a:srgbClr val="E5E9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01D"/>
                          </a:solidFill>
                          <a:latin typeface="IBM Plex Sans"/>
                        </a:defRPr>
                      </a:pPr>
                      <a:r>
                        <a:rPr dirty="0"/>
                        <a:t>Error displayed; registration blocked</a:t>
                      </a:r>
                    </a:p>
                  </a:txBody>
                  <a:tcPr>
                    <a:solidFill>
                      <a:srgbClr val="E5E9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59669"/>
                          </a:solidFill>
                          <a:latin typeface="IBM Plex Sans SemiBold"/>
                        </a:defRPr>
                      </a:pPr>
                      <a:r>
                        <a:rPr dirty="0"/>
                        <a:t>PASS</a:t>
                      </a:r>
                    </a:p>
                  </a:txBody>
                  <a:tcPr>
                    <a:solidFill>
                      <a:srgbClr val="E5E9DA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201D"/>
                          </a:solidFill>
                          <a:latin typeface="IBM Plex Sans SemiBold"/>
                        </a:defRPr>
                      </a:pPr>
                      <a:r>
                        <a:rPr dirty="0"/>
                        <a:t>TC-101.3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01D"/>
                          </a:solidFill>
                          <a:latin typeface="IBM Plex Sans"/>
                        </a:defRPr>
                      </a:pPr>
                      <a:r>
                        <a:rPr dirty="0"/>
                        <a:t>Registration: Short Password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01D"/>
                          </a:solidFill>
                          <a:latin typeface="IBM Plex Sans"/>
                        </a:defRPr>
                      </a:pPr>
                      <a:r>
                        <a:rPr dirty="0"/>
                        <a:t>Password: 'pass' (&lt; 8 characters)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01D"/>
                          </a:solidFill>
                          <a:latin typeface="IBM Plex Sans"/>
                        </a:defRPr>
                      </a:pPr>
                      <a:r>
                        <a:rPr dirty="0"/>
                        <a:t>Validation error: 'Password must be &gt;= 8 chars'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01D"/>
                          </a:solidFill>
                          <a:latin typeface="IBM Plex Sans"/>
                        </a:defRPr>
                      </a:pPr>
                      <a:r>
                        <a:rPr dirty="0"/>
                        <a:t>Error displayed; payload rejected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59669"/>
                          </a:solidFill>
                          <a:latin typeface="IBM Plex Sans SemiBold"/>
                        </a:defRPr>
                      </a:pPr>
                      <a:r>
                        <a:rPr dirty="0"/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201D"/>
                          </a:solidFill>
                          <a:latin typeface="IBM Plex Sans SemiBold"/>
                        </a:defRPr>
                      </a:pPr>
                      <a:r>
                        <a:rPr dirty="0"/>
                        <a:t>TC-102.1</a:t>
                      </a:r>
                    </a:p>
                  </a:txBody>
                  <a:tcPr>
                    <a:solidFill>
                      <a:srgbClr val="E5E9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01D"/>
                          </a:solidFill>
                          <a:latin typeface="IBM Plex Sans"/>
                        </a:defRPr>
                      </a:pPr>
                      <a:r>
                        <a:rPr dirty="0"/>
                        <a:t>Authentication: Valid Login</a:t>
                      </a:r>
                    </a:p>
                  </a:txBody>
                  <a:tcPr>
                    <a:solidFill>
                      <a:srgbClr val="E5E9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01D"/>
                          </a:solidFill>
                          <a:latin typeface="IBM Plex Sans"/>
                        </a:defRPr>
                      </a:pPr>
                      <a:r>
                        <a:rPr dirty="0"/>
                        <a:t>Correct email &amp; password credentials</a:t>
                      </a:r>
                    </a:p>
                  </a:txBody>
                  <a:tcPr>
                    <a:solidFill>
                      <a:srgbClr val="E5E9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01D"/>
                          </a:solidFill>
                          <a:latin typeface="IBM Plex Sans"/>
                        </a:defRPr>
                      </a:pPr>
                      <a:r>
                        <a:rPr dirty="0"/>
                        <a:t>HTTP 200, JWT cookie issued, dashboard unlocked</a:t>
                      </a:r>
                    </a:p>
                  </a:txBody>
                  <a:tcPr>
                    <a:solidFill>
                      <a:srgbClr val="E5E9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01D"/>
                          </a:solidFill>
                          <a:latin typeface="IBM Plex Sans"/>
                        </a:defRPr>
                      </a:pPr>
                      <a:r>
                        <a:rPr dirty="0"/>
                        <a:t>Login successful; session stored</a:t>
                      </a:r>
                    </a:p>
                  </a:txBody>
                  <a:tcPr>
                    <a:solidFill>
                      <a:srgbClr val="E5E9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59669"/>
                          </a:solidFill>
                          <a:latin typeface="IBM Plex Sans SemiBold"/>
                        </a:defRPr>
                      </a:pPr>
                      <a:r>
                        <a:rPr dirty="0"/>
                        <a:t>PASS</a:t>
                      </a:r>
                    </a:p>
                  </a:txBody>
                  <a:tcPr>
                    <a:solidFill>
                      <a:srgbClr val="E5E9DA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201D"/>
                          </a:solidFill>
                          <a:latin typeface="IBM Plex Sans SemiBold"/>
                        </a:defRPr>
                      </a:pPr>
                      <a:r>
                        <a:rPr dirty="0"/>
                        <a:t>TC-102.2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01D"/>
                          </a:solidFill>
                          <a:latin typeface="IBM Plex Sans"/>
                        </a:defRPr>
                      </a:pPr>
                      <a:r>
                        <a:rPr dirty="0"/>
                        <a:t>Authentication: Invalid 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01D"/>
                          </a:solidFill>
                          <a:latin typeface="IBM Plex Sans"/>
                        </a:defRPr>
                      </a:pPr>
                      <a:r>
                        <a:rPr dirty="0"/>
                        <a:t>Correct email, wrong password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01D"/>
                          </a:solidFill>
                          <a:latin typeface="IBM Plex Sans"/>
                        </a:defRPr>
                      </a:pPr>
                      <a:r>
                        <a:rPr dirty="0"/>
                        <a:t>HTTP 401 error: 'Invalid credentials'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01D"/>
                          </a:solidFill>
                          <a:latin typeface="IBM Plex Sans"/>
                        </a:defRPr>
                      </a:pPr>
                      <a:r>
                        <a:rPr dirty="0"/>
                        <a:t>Error shown; access denied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59669"/>
                          </a:solidFill>
                          <a:latin typeface="IBM Plex Sans SemiBold"/>
                        </a:defRPr>
                      </a:pPr>
                      <a:r>
                        <a:rPr dirty="0"/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201D"/>
                          </a:solidFill>
                          <a:latin typeface="IBM Plex Sans SemiBold"/>
                        </a:defRPr>
                      </a:pPr>
                      <a:r>
                        <a:rPr dirty="0"/>
                        <a:t>TC-103.1</a:t>
                      </a:r>
                    </a:p>
                  </a:txBody>
                  <a:tcPr>
                    <a:solidFill>
                      <a:srgbClr val="E5E9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01D"/>
                          </a:solidFill>
                          <a:latin typeface="IBM Plex Sans"/>
                        </a:defRPr>
                      </a:pPr>
                      <a:r>
                        <a:rPr dirty="0"/>
                        <a:t>Newsfeed: Create Post</a:t>
                      </a:r>
                    </a:p>
                  </a:txBody>
                  <a:tcPr>
                    <a:solidFill>
                      <a:srgbClr val="E5E9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01D"/>
                          </a:solidFill>
                          <a:latin typeface="IBM Plex Sans"/>
                        </a:defRPr>
                      </a:pPr>
                      <a:r>
                        <a:rPr dirty="0"/>
                        <a:t>Post text + </a:t>
                      </a:r>
                      <a:r>
                        <a:rPr dirty="0" err="1"/>
                        <a:t>Cloudinary</a:t>
                      </a:r>
                      <a:r>
                        <a:rPr dirty="0"/>
                        <a:t> image link</a:t>
                      </a:r>
                    </a:p>
                  </a:txBody>
                  <a:tcPr>
                    <a:solidFill>
                      <a:srgbClr val="E5E9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01D"/>
                          </a:solidFill>
                          <a:latin typeface="IBM Plex Sans"/>
                        </a:defRPr>
                      </a:pPr>
                      <a:r>
                        <a:rPr dirty="0" err="1"/>
                        <a:t>PostFacade</a:t>
                      </a:r>
                      <a:r>
                        <a:rPr dirty="0"/>
                        <a:t> saves post; renders on newsfeed</a:t>
                      </a:r>
                    </a:p>
                  </a:txBody>
                  <a:tcPr>
                    <a:solidFill>
                      <a:srgbClr val="E5E9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01D"/>
                          </a:solidFill>
                          <a:latin typeface="IBM Plex Sans"/>
                        </a:defRPr>
                      </a:pPr>
                      <a:r>
                        <a:rPr dirty="0"/>
                        <a:t>Post created and visible live</a:t>
                      </a:r>
                    </a:p>
                  </a:txBody>
                  <a:tcPr>
                    <a:solidFill>
                      <a:srgbClr val="E5E9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59669"/>
                          </a:solidFill>
                          <a:latin typeface="IBM Plex Sans SemiBold"/>
                        </a:defRPr>
                      </a:pPr>
                      <a:r>
                        <a:rPr dirty="0"/>
                        <a:t>PASS</a:t>
                      </a:r>
                    </a:p>
                  </a:txBody>
                  <a:tcPr>
                    <a:solidFill>
                      <a:srgbClr val="E5E9DA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201D"/>
                          </a:solidFill>
                          <a:latin typeface="IBM Plex Sans SemiBold"/>
                        </a:defRPr>
                      </a:pPr>
                      <a:r>
                        <a:rPr dirty="0"/>
                        <a:t>TC-104.1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01D"/>
                          </a:solidFill>
                          <a:latin typeface="IBM Plex Sans"/>
                        </a:defRPr>
                      </a:pPr>
                      <a:r>
                        <a:rPr dirty="0"/>
                        <a:t>Connections &amp; Sockets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01D"/>
                          </a:solidFill>
                          <a:latin typeface="IBM Plex Sans"/>
                        </a:defRPr>
                      </a:pPr>
                      <a:r>
                        <a:rPr dirty="0"/>
                        <a:t>User A sends friend request to User 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01D"/>
                          </a:solidFill>
                          <a:latin typeface="IBM Plex Sans"/>
                        </a:defRPr>
                      </a:pPr>
                      <a:r>
                        <a:rPr dirty="0"/>
                        <a:t>State moves to Pending; live alert emitted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01D"/>
                          </a:solidFill>
                          <a:latin typeface="IBM Plex Sans"/>
                        </a:defRPr>
                      </a:pPr>
                      <a:r>
                        <a:rPr dirty="0"/>
                        <a:t>Notification received instantly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59669"/>
                          </a:solidFill>
                          <a:latin typeface="IBM Plex Sans SemiBold"/>
                        </a:defRPr>
                      </a:pPr>
                      <a:r>
                        <a:rPr dirty="0"/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201D"/>
                          </a:solidFill>
                          <a:latin typeface="IBM Plex Sans SemiBold"/>
                        </a:defRPr>
                      </a:pPr>
                      <a:r>
                        <a:rPr dirty="0"/>
                        <a:t>TC-104.2</a:t>
                      </a:r>
                    </a:p>
                  </a:txBody>
                  <a:tcPr>
                    <a:solidFill>
                      <a:srgbClr val="E5E9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01D"/>
                          </a:solidFill>
                          <a:latin typeface="IBM Plex Sans"/>
                        </a:defRPr>
                      </a:pPr>
                      <a:r>
                        <a:rPr dirty="0"/>
                        <a:t>Real-Time Chat: Message</a:t>
                      </a:r>
                    </a:p>
                  </a:txBody>
                  <a:tcPr>
                    <a:solidFill>
                      <a:srgbClr val="E5E9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01D"/>
                          </a:solidFill>
                          <a:latin typeface="IBM Plex Sans"/>
                        </a:defRPr>
                      </a:pPr>
                      <a:r>
                        <a:rPr dirty="0"/>
                        <a:t>User A sends message in private room</a:t>
                      </a:r>
                    </a:p>
                  </a:txBody>
                  <a:tcPr>
                    <a:solidFill>
                      <a:srgbClr val="E5E9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01D"/>
                          </a:solidFill>
                          <a:latin typeface="IBM Plex Sans"/>
                        </a:defRPr>
                      </a:pPr>
                      <a:r>
                        <a:rPr dirty="0"/>
                        <a:t>Message saved &amp; delivered via Socket.io &lt; 150ms</a:t>
                      </a:r>
                    </a:p>
                  </a:txBody>
                  <a:tcPr>
                    <a:solidFill>
                      <a:srgbClr val="E5E9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01D"/>
                          </a:solidFill>
                          <a:latin typeface="IBM Plex Sans"/>
                        </a:defRPr>
                      </a:pPr>
                      <a:r>
                        <a:rPr dirty="0"/>
                        <a:t>Message rendered in chat thread</a:t>
                      </a:r>
                    </a:p>
                  </a:txBody>
                  <a:tcPr>
                    <a:solidFill>
                      <a:srgbClr val="E5E9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59669"/>
                          </a:solidFill>
                          <a:latin typeface="IBM Plex Sans SemiBold"/>
                        </a:defRPr>
                      </a:pPr>
                      <a:r>
                        <a:rPr dirty="0"/>
                        <a:t>PASS</a:t>
                      </a:r>
                    </a:p>
                  </a:txBody>
                  <a:tcPr>
                    <a:solidFill>
                      <a:srgbClr val="E5E9DA"/>
                    </a:solidFill>
                  </a:tcPr>
                </a:tc>
              </a:tr>
            </a:tbl>
          </a:graphicData>
        </a:graphic>
      </p:graphicFrame>
      <p:sp>
        <p:nvSpPr>
          <p:cNvPr id="6" name="Oval 5"/>
          <p:cNvSpPr/>
          <p:nvPr/>
        </p:nvSpPr>
        <p:spPr>
          <a:xfrm>
            <a:off x="10954693" y="6547104"/>
            <a:ext cx="1237307" cy="31089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38912"/>
            <a:ext cx="11274552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0A7C78"/>
                </a:solidFill>
                <a:latin typeface="IBM Plex Sans SemiBold"/>
              </a:defRPr>
            </a:pPr>
            <a:r>
              <a:rPr dirty="0" smtClean="0"/>
              <a:t>1</a:t>
            </a:r>
            <a:r>
              <a:rPr lang="en-US" dirty="0" smtClean="0"/>
              <a:t>4</a:t>
            </a:r>
            <a:r>
              <a:rPr dirty="0" smtClean="0"/>
              <a:t> </a:t>
            </a:r>
            <a:r>
              <a:rPr dirty="0"/>
              <a:t>· AGILE METRICS &amp; VELOCITY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11274552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10201D"/>
                </a:solidFill>
                <a:latin typeface="Sora Bold"/>
              </a:defRPr>
            </a:pPr>
            <a:r>
              <a:rPr dirty="0"/>
              <a:t>Quantitative </a:t>
            </a:r>
            <a:r>
              <a:rPr dirty="0" err="1"/>
              <a:t>burndown</a:t>
            </a:r>
            <a:r>
              <a:rPr dirty="0"/>
              <a:t> trajectory and sprint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89888"/>
            <a:ext cx="11274552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>
                <a:solidFill>
                  <a:srgbClr val="10201D"/>
                </a:solidFill>
                <a:latin typeface="IBM Plex Sans"/>
              </a:defRPr>
            </a:pPr>
            <a:r>
              <a:rPr dirty="0"/>
              <a:t>Agile metrics demonstrate sustained velocity of 18.4 SP/sprint with disciplined technical debt control.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965960"/>
            <a:ext cx="68580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6" name="Picture 5" descr="burndown_velocity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57400"/>
            <a:ext cx="6675120" cy="429768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498079" y="1965960"/>
          <a:ext cx="4233672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868680"/>
                <a:gridCol w="868680"/>
                <a:gridCol w="850392"/>
              </a:tblGrid>
              <a:tr h="3352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IBM Plex Sans SemiBold"/>
                        </a:defRPr>
                      </a:pPr>
                      <a:r>
                        <a:rPr dirty="0"/>
                        <a:t>Agile Metric</a:t>
                      </a:r>
                    </a:p>
                  </a:txBody>
                  <a:tcPr>
                    <a:solidFill>
                      <a:srgbClr val="083C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IBM Plex Sans SemiBold"/>
                        </a:defRPr>
                      </a:pPr>
                      <a:r>
                        <a:rPr dirty="0"/>
                        <a:t>Sprint 1</a:t>
                      </a:r>
                    </a:p>
                  </a:txBody>
                  <a:tcPr>
                    <a:solidFill>
                      <a:srgbClr val="083C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IBM Plex Sans SemiBold"/>
                        </a:defRPr>
                      </a:pPr>
                      <a:r>
                        <a:rPr dirty="0"/>
                        <a:t>Sprint 2</a:t>
                      </a:r>
                    </a:p>
                  </a:txBody>
                  <a:tcPr>
                    <a:solidFill>
                      <a:srgbClr val="083C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IBM Plex Sans SemiBold"/>
                        </a:defRPr>
                      </a:pPr>
                      <a:r>
                        <a:rPr dirty="0"/>
                        <a:t>Sprint 3</a:t>
                      </a:r>
                    </a:p>
                  </a:txBody>
                  <a:tcPr>
                    <a:solidFill>
                      <a:srgbClr val="083C35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0201D"/>
                          </a:solidFill>
                          <a:latin typeface="IBM Plex Sans SemiBold"/>
                        </a:defRPr>
                      </a:pPr>
                      <a:r>
                        <a:rPr dirty="0"/>
                        <a:t>Committed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0201D"/>
                          </a:solidFill>
                          <a:latin typeface="IBM Plex Sans"/>
                        </a:defRPr>
                      </a:pPr>
                      <a:r>
                        <a:rPr dirty="0"/>
                        <a:t>24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0201D"/>
                          </a:solidFill>
                          <a:latin typeface="IBM Plex Sans"/>
                        </a:defRPr>
                      </a:pPr>
                      <a:r>
                        <a:rPr dirty="0"/>
                        <a:t>36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0201D"/>
                          </a:solidFill>
                          <a:latin typeface="IBM Plex Sans"/>
                        </a:defRPr>
                      </a:pPr>
                      <a:r>
                        <a:rPr dirty="0"/>
                        <a:t>49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0201D"/>
                          </a:solidFill>
                          <a:latin typeface="IBM Plex Sans SemiBold"/>
                        </a:defRPr>
                      </a:pPr>
                      <a:r>
                        <a:rPr dirty="0"/>
                        <a:t>Completed SP</a:t>
                      </a:r>
                    </a:p>
                  </a:txBody>
                  <a:tcPr>
                    <a:solidFill>
                      <a:srgbClr val="E5E9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0201D"/>
                          </a:solidFill>
                          <a:latin typeface="IBM Plex Sans"/>
                        </a:defRPr>
                      </a:pPr>
                      <a:r>
                        <a:rPr dirty="0"/>
                        <a:t>19 SP</a:t>
                      </a:r>
                    </a:p>
                  </a:txBody>
                  <a:tcPr>
                    <a:solidFill>
                      <a:srgbClr val="E5E9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0201D"/>
                          </a:solidFill>
                          <a:latin typeface="IBM Plex Sans"/>
                        </a:defRPr>
                      </a:pPr>
                      <a:r>
                        <a:rPr dirty="0"/>
                        <a:t>20 SP</a:t>
                      </a:r>
                    </a:p>
                  </a:txBody>
                  <a:tcPr>
                    <a:solidFill>
                      <a:srgbClr val="E5E9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0201D"/>
                          </a:solidFill>
                          <a:latin typeface="IBM Plex Sans"/>
                        </a:defRPr>
                      </a:pPr>
                      <a:r>
                        <a:rPr dirty="0"/>
                        <a:t>11 SP</a:t>
                      </a:r>
                    </a:p>
                  </a:txBody>
                  <a:tcPr>
                    <a:solidFill>
                      <a:srgbClr val="E5E9D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0201D"/>
                          </a:solidFill>
                          <a:latin typeface="IBM Plex Sans SemiBold"/>
                        </a:defRPr>
                      </a:pPr>
                      <a:r>
                        <a:rPr dirty="0"/>
                        <a:t>Carried Over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0201D"/>
                          </a:solidFill>
                          <a:latin typeface="IBM Plex Sans"/>
                        </a:defRPr>
                      </a:pPr>
                      <a:r>
                        <a:rPr dirty="0"/>
                        <a:t>5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0201D"/>
                          </a:solidFill>
                          <a:latin typeface="IBM Plex Sans"/>
                        </a:defRPr>
                      </a:pPr>
                      <a:r>
                        <a:rPr dirty="0"/>
                        <a:t>16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0201D"/>
                          </a:solidFill>
                          <a:latin typeface="IBM Plex Sans"/>
                        </a:defRPr>
                      </a:pPr>
                      <a:r>
                        <a:rPr dirty="0"/>
                        <a:t>38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0201D"/>
                          </a:solidFill>
                          <a:latin typeface="IBM Plex Sans SemiBold"/>
                        </a:defRPr>
                      </a:pPr>
                      <a:r>
                        <a:rPr dirty="0"/>
                        <a:t>Completion %</a:t>
                      </a:r>
                    </a:p>
                  </a:txBody>
                  <a:tcPr>
                    <a:solidFill>
                      <a:srgbClr val="E5E9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0201D"/>
                          </a:solidFill>
                          <a:latin typeface="IBM Plex Sans"/>
                        </a:defRPr>
                      </a:pPr>
                      <a:r>
                        <a:rPr dirty="0"/>
                        <a:t>79%</a:t>
                      </a:r>
                    </a:p>
                  </a:txBody>
                  <a:tcPr>
                    <a:solidFill>
                      <a:srgbClr val="E5E9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0201D"/>
                          </a:solidFill>
                          <a:latin typeface="IBM Plex Sans"/>
                        </a:defRPr>
                      </a:pPr>
                      <a:r>
                        <a:rPr dirty="0"/>
                        <a:t>56%</a:t>
                      </a:r>
                    </a:p>
                  </a:txBody>
                  <a:tcPr>
                    <a:solidFill>
                      <a:srgbClr val="E5E9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0201D"/>
                          </a:solidFill>
                          <a:latin typeface="IBM Plex Sans"/>
                        </a:defRPr>
                      </a:pPr>
                      <a:r>
                        <a:rPr dirty="0"/>
                        <a:t>22%</a:t>
                      </a:r>
                    </a:p>
                  </a:txBody>
                  <a:tcPr>
                    <a:solidFill>
                      <a:srgbClr val="E5E9D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0201D"/>
                          </a:solidFill>
                          <a:latin typeface="IBM Plex Sans SemiBold"/>
                        </a:defRPr>
                      </a:pPr>
                      <a:r>
                        <a:rPr dirty="0"/>
                        <a:t>Sprint Velocity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0201D"/>
                          </a:solidFill>
                          <a:latin typeface="IBM Plex Sans"/>
                        </a:defRPr>
                      </a:pPr>
                      <a:r>
                        <a:rPr dirty="0"/>
                        <a:t>19.0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0201D"/>
                          </a:solidFill>
                          <a:latin typeface="IBM Plex Sans"/>
                        </a:defRPr>
                      </a:pPr>
                      <a:r>
                        <a:rPr dirty="0"/>
                        <a:t>19.5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0201D"/>
                          </a:solidFill>
                          <a:latin typeface="IBM Plex Sans"/>
                        </a:defRPr>
                      </a:pPr>
                      <a:r>
                        <a:rPr dirty="0"/>
                        <a:t>16.7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498079" y="4160520"/>
            <a:ext cx="4233672" cy="2286000"/>
          </a:xfrm>
          <a:prstGeom prst="roundRect">
            <a:avLst/>
          </a:prstGeom>
          <a:solidFill>
            <a:srgbClr val="083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IBM Plex Sans SemiBold"/>
              </a:defRPr>
            </a:pPr>
            <a:r>
              <a:rPr dirty="0"/>
              <a:t>Velocity Insights (Table 81)</a:t>
            </a:r>
          </a:p>
          <a:p>
            <a:pPr>
              <a:spcBef>
                <a:spcPts val="200"/>
              </a:spcBef>
              <a:defRPr sz="1000">
                <a:solidFill>
                  <a:srgbClr val="55D9CB"/>
                </a:solidFill>
                <a:latin typeface="IBM Plex Sans SemiBold"/>
              </a:defRPr>
            </a:pPr>
            <a:r>
              <a:rPr dirty="0"/>
              <a:t>Agile Scrum Empirical Governance</a:t>
            </a:r>
          </a:p>
          <a:p>
            <a:pPr>
              <a:spcBef>
                <a:spcPts val="600"/>
              </a:spcBef>
              <a:defRPr sz="1100">
                <a:solidFill>
                  <a:srgbClr val="DCE4DD"/>
                </a:solidFill>
                <a:latin typeface="IBM Plex Sans"/>
              </a:defRPr>
            </a:pPr>
            <a:r>
              <a:rPr dirty="0"/>
              <a:t>• Stable Output: Average team velocity maintained at 18.4 SP per sprint cycle.</a:t>
            </a:r>
            <a:br>
              <a:rPr dirty="0"/>
            </a:br>
            <a:r>
              <a:rPr dirty="0"/>
              <a:t>• Refactoring Load: Carried-over points reflected deep </a:t>
            </a:r>
            <a:r>
              <a:rPr dirty="0" err="1"/>
              <a:t>GoF</a:t>
            </a:r>
            <a:r>
              <a:rPr dirty="0"/>
              <a:t> design pattern extractions in Sprint 14.</a:t>
            </a:r>
            <a:br>
              <a:rPr dirty="0"/>
            </a:br>
            <a:r>
              <a:rPr dirty="0"/>
              <a:t>• Zero Technical Debt: All carried stories fully resolved and verified before final Oct 31 deployment.</a:t>
            </a:r>
          </a:p>
        </p:txBody>
      </p:sp>
      <p:sp>
        <p:nvSpPr>
          <p:cNvPr id="9" name="Oval 8"/>
          <p:cNvSpPr/>
          <p:nvPr/>
        </p:nvSpPr>
        <p:spPr>
          <a:xfrm>
            <a:off x="10954693" y="6547104"/>
            <a:ext cx="1237307" cy="31089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38912"/>
            <a:ext cx="11274552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0A7C78"/>
                </a:solidFill>
                <a:latin typeface="IBM Plex Sans SemiBold"/>
              </a:defRPr>
            </a:pPr>
            <a:r>
              <a:rPr dirty="0" smtClean="0"/>
              <a:t>1</a:t>
            </a:r>
            <a:r>
              <a:rPr lang="en-US" dirty="0"/>
              <a:t>5</a:t>
            </a:r>
            <a:r>
              <a:rPr dirty="0" smtClean="0"/>
              <a:t> </a:t>
            </a:r>
            <a:r>
              <a:rPr dirty="0"/>
              <a:t>· FUTURE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11274552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10201D"/>
                </a:solidFill>
                <a:latin typeface="Sora Bold"/>
              </a:defRPr>
            </a:pPr>
            <a:r>
              <a:rPr dirty="0"/>
              <a:t>Strategic platform evolution beyond the core MVP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89888"/>
            <a:ext cx="11274552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>
                <a:solidFill>
                  <a:srgbClr val="10201D"/>
                </a:solidFill>
                <a:latin typeface="IBM Plex Sans"/>
              </a:defRPr>
            </a:pPr>
            <a:r>
              <a:rPr dirty="0"/>
              <a:t>Four high-impact architectural extensions planned for subsequent product releases.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965960"/>
            <a:ext cx="5486400" cy="2148840"/>
          </a:xfrm>
          <a:prstGeom prst="roundRect">
            <a:avLst/>
          </a:prstGeom>
          <a:solidFill>
            <a:srgbClr val="E5E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defRPr sz="1700" b="1">
                <a:solidFill>
                  <a:srgbClr val="10201D"/>
                </a:solidFill>
                <a:latin typeface="IBM Plex Sans SemiBold"/>
              </a:defRPr>
            </a:pPr>
            <a:r>
              <a:rPr dirty="0"/>
              <a:t>1. AI-Powered Resume Matching</a:t>
            </a:r>
          </a:p>
          <a:p>
            <a:pPr>
              <a:spcBef>
                <a:spcPts val="200"/>
              </a:spcBef>
              <a:defRPr sz="1000">
                <a:solidFill>
                  <a:srgbClr val="0A7C78"/>
                </a:solidFill>
                <a:latin typeface="IBM Plex Sans SemiBold"/>
              </a:defRPr>
            </a:pPr>
            <a:r>
              <a:rPr dirty="0"/>
              <a:t>Machine Learning / NLP</a:t>
            </a:r>
          </a:p>
          <a:p>
            <a:pPr>
              <a:spcBef>
                <a:spcPts val="600"/>
              </a:spcBef>
              <a:defRPr sz="1150">
                <a:solidFill>
                  <a:srgbClr val="10201D"/>
                </a:solidFill>
                <a:latin typeface="IBM Plex Sans"/>
              </a:defRPr>
            </a:pPr>
            <a:r>
              <a:rPr dirty="0"/>
              <a:t>• Semantic </a:t>
            </a:r>
            <a:r>
              <a:rPr dirty="0" err="1"/>
              <a:t>Embeddings</a:t>
            </a:r>
            <a:r>
              <a:rPr dirty="0"/>
              <a:t>: Leverage LLM vector </a:t>
            </a:r>
            <a:r>
              <a:rPr dirty="0" err="1"/>
              <a:t>embeddings</a:t>
            </a:r>
            <a:r>
              <a:rPr dirty="0"/>
              <a:t> to match candidate resumes to job descriptions.</a:t>
            </a:r>
            <a:br>
              <a:rPr dirty="0"/>
            </a:br>
            <a:r>
              <a:rPr dirty="0"/>
              <a:t>• Skill Gap Analysis: Recommend relevant courses based on missing job keywords and competencies.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5352" y="1965960"/>
            <a:ext cx="5486400" cy="2148840"/>
          </a:xfrm>
          <a:prstGeom prst="roundRect">
            <a:avLst/>
          </a:prstGeom>
          <a:solidFill>
            <a:srgbClr val="083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defRPr sz="1700" b="1">
                <a:solidFill>
                  <a:srgbClr val="FFFFFF"/>
                </a:solidFill>
                <a:latin typeface="IBM Plex Sans SemiBold"/>
              </a:defRPr>
            </a:pPr>
            <a:r>
              <a:rPr dirty="0"/>
              <a:t>2. </a:t>
            </a:r>
            <a:r>
              <a:rPr dirty="0" err="1"/>
              <a:t>WebRTC</a:t>
            </a:r>
            <a:r>
              <a:rPr dirty="0"/>
              <a:t> Video Interviews</a:t>
            </a:r>
          </a:p>
          <a:p>
            <a:pPr>
              <a:spcBef>
                <a:spcPts val="200"/>
              </a:spcBef>
              <a:defRPr sz="1000">
                <a:solidFill>
                  <a:srgbClr val="55D9CB"/>
                </a:solidFill>
                <a:latin typeface="IBM Plex Sans SemiBold"/>
              </a:defRPr>
            </a:pPr>
            <a:r>
              <a:rPr dirty="0"/>
              <a:t>Real-Time Media Streams</a:t>
            </a:r>
          </a:p>
          <a:p>
            <a:pPr>
              <a:spcBef>
                <a:spcPts val="600"/>
              </a:spcBef>
              <a:defRPr sz="1150">
                <a:solidFill>
                  <a:srgbClr val="DCE4DD"/>
                </a:solidFill>
                <a:latin typeface="IBM Plex Sans"/>
              </a:defRPr>
            </a:pPr>
            <a:r>
              <a:rPr dirty="0"/>
              <a:t>• Peer-to-Peer Calling: Direct in-browser video interviews between recruiters and applicants with zero plugins.</a:t>
            </a:r>
            <a:br>
              <a:rPr dirty="0"/>
            </a:br>
            <a:r>
              <a:rPr dirty="0"/>
              <a:t>• Collaborative Sandbox: Integrated code editor for real-time technical screening.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297680"/>
            <a:ext cx="5486400" cy="2148840"/>
          </a:xfrm>
          <a:prstGeom prst="roundRect">
            <a:avLst/>
          </a:prstGeom>
          <a:solidFill>
            <a:srgbClr val="083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defRPr sz="1700" b="1">
                <a:solidFill>
                  <a:srgbClr val="FFFFFF"/>
                </a:solidFill>
                <a:latin typeface="IBM Plex Sans SemiBold"/>
              </a:defRPr>
            </a:pPr>
            <a:r>
              <a:rPr dirty="0"/>
              <a:t>3. Native Mobile Applications</a:t>
            </a:r>
          </a:p>
          <a:p>
            <a:pPr>
              <a:spcBef>
                <a:spcPts val="200"/>
              </a:spcBef>
              <a:defRPr sz="1000">
                <a:solidFill>
                  <a:srgbClr val="55D9CB"/>
                </a:solidFill>
                <a:latin typeface="IBM Plex Sans SemiBold"/>
              </a:defRPr>
            </a:pPr>
            <a:r>
              <a:rPr dirty="0"/>
              <a:t>Cross-Platform Mobile Ecosystem</a:t>
            </a:r>
          </a:p>
          <a:p>
            <a:pPr>
              <a:spcBef>
                <a:spcPts val="600"/>
              </a:spcBef>
              <a:defRPr sz="1150">
                <a:solidFill>
                  <a:srgbClr val="DCE4DD"/>
                </a:solidFill>
                <a:latin typeface="IBM Plex Sans"/>
              </a:defRPr>
            </a:pPr>
            <a:r>
              <a:rPr dirty="0"/>
              <a:t>• React Native: Re-use core business logic and </a:t>
            </a:r>
            <a:r>
              <a:rPr dirty="0" err="1"/>
              <a:t>Redux</a:t>
            </a:r>
            <a:r>
              <a:rPr dirty="0"/>
              <a:t> stores across </a:t>
            </a:r>
            <a:r>
              <a:rPr dirty="0" err="1"/>
              <a:t>iOS</a:t>
            </a:r>
            <a:r>
              <a:rPr dirty="0"/>
              <a:t> and Android.</a:t>
            </a:r>
            <a:br>
              <a:rPr dirty="0"/>
            </a:br>
            <a:r>
              <a:rPr dirty="0"/>
              <a:t>• Push Notifications: Firebase Cloud Messaging (FCM) for background chat and connection request alerts.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4297680"/>
            <a:ext cx="5486400" cy="2148840"/>
          </a:xfrm>
          <a:prstGeom prst="roundRect">
            <a:avLst/>
          </a:prstGeom>
          <a:solidFill>
            <a:srgbClr val="E5E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defRPr sz="1700" b="1">
                <a:solidFill>
                  <a:srgbClr val="10201D"/>
                </a:solidFill>
                <a:latin typeface="IBM Plex Sans SemiBold"/>
              </a:defRPr>
            </a:pPr>
            <a:r>
              <a:rPr dirty="0"/>
              <a:t>4. Recruiter ATS Analytics</a:t>
            </a:r>
          </a:p>
          <a:p>
            <a:pPr>
              <a:spcBef>
                <a:spcPts val="200"/>
              </a:spcBef>
              <a:defRPr sz="1000">
                <a:solidFill>
                  <a:srgbClr val="0A7C78"/>
                </a:solidFill>
                <a:latin typeface="IBM Plex Sans SemiBold"/>
              </a:defRPr>
            </a:pPr>
            <a:r>
              <a:rPr dirty="0"/>
              <a:t>Enterprise Recruitment Suite</a:t>
            </a:r>
          </a:p>
          <a:p>
            <a:pPr>
              <a:spcBef>
                <a:spcPts val="600"/>
              </a:spcBef>
              <a:defRPr sz="1150">
                <a:solidFill>
                  <a:srgbClr val="10201D"/>
                </a:solidFill>
                <a:latin typeface="IBM Plex Sans"/>
              </a:defRPr>
            </a:pPr>
            <a:r>
              <a:rPr dirty="0"/>
              <a:t>• Recruiter Dashboard: Track applicant funnels, time-to-hire, and job post engagement analytics.</a:t>
            </a:r>
            <a:br>
              <a:rPr dirty="0"/>
            </a:br>
            <a:r>
              <a:rPr dirty="0"/>
              <a:t>• Automated ATS: Bulk candidate review, hiring status pipelines, and automated interview scheduling.</a:t>
            </a:r>
          </a:p>
        </p:txBody>
      </p:sp>
      <p:sp>
        <p:nvSpPr>
          <p:cNvPr id="9" name="Oval 8"/>
          <p:cNvSpPr/>
          <p:nvPr/>
        </p:nvSpPr>
        <p:spPr>
          <a:xfrm>
            <a:off x="10954693" y="6547104"/>
            <a:ext cx="1237307" cy="31089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38912"/>
            <a:ext cx="11274552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0A7C78"/>
                </a:solidFill>
                <a:latin typeface="IBM Plex Sans SemiBold"/>
              </a:defRPr>
            </a:pPr>
            <a:r>
              <a:rPr dirty="0" smtClean="0"/>
              <a:t>1</a:t>
            </a:r>
            <a:r>
              <a:rPr lang="en-US" dirty="0" smtClean="0"/>
              <a:t>6</a:t>
            </a:r>
            <a:r>
              <a:rPr dirty="0" smtClean="0"/>
              <a:t> </a:t>
            </a:r>
            <a:r>
              <a:rPr dirty="0"/>
              <a:t>·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11274552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10201D"/>
                </a:solidFill>
                <a:latin typeface="Sora Bold"/>
              </a:defRPr>
            </a:pPr>
            <a:r>
              <a:rPr dirty="0"/>
              <a:t>On-time delivery of a robust, pattern-driven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89888"/>
            <a:ext cx="11274552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>
                <a:solidFill>
                  <a:srgbClr val="10201D"/>
                </a:solidFill>
                <a:latin typeface="IBM Plex Sans"/>
              </a:defRPr>
            </a:pPr>
            <a:r>
              <a:rPr dirty="0"/>
              <a:t>Complete fulfillment of PMDP objectives with rigorous software engineering standards.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965960"/>
            <a:ext cx="5486400" cy="4480560"/>
          </a:xfrm>
          <a:prstGeom prst="roundRect">
            <a:avLst/>
          </a:prstGeom>
          <a:solidFill>
            <a:srgbClr val="083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defRPr sz="2000" b="1">
                <a:solidFill>
                  <a:srgbClr val="FFFFFF"/>
                </a:solidFill>
                <a:latin typeface="IBM Plex Sans SemiBold"/>
              </a:defRPr>
            </a:pPr>
            <a:r>
              <a:rPr dirty="0"/>
              <a:t>Project Deliverables Summary</a:t>
            </a:r>
          </a:p>
          <a:p>
            <a:pPr>
              <a:spcBef>
                <a:spcPts val="200"/>
              </a:spcBef>
              <a:defRPr sz="1100">
                <a:solidFill>
                  <a:srgbClr val="55D9CB"/>
                </a:solidFill>
                <a:latin typeface="IBM Plex Sans SemiBold"/>
              </a:defRPr>
            </a:pPr>
            <a:r>
              <a:rPr dirty="0"/>
              <a:t>PMDP Verification Baseline · 100% Complete</a:t>
            </a:r>
          </a:p>
          <a:p>
            <a:pPr>
              <a:spcBef>
                <a:spcPts val="800"/>
              </a:spcBef>
              <a:defRPr sz="1200" b="1">
                <a:solidFill>
                  <a:srgbClr val="FFFFFF"/>
                </a:solidFill>
                <a:latin typeface="IBM Plex Sans SemiBold"/>
              </a:defRPr>
            </a:pPr>
            <a:r>
              <a:rPr dirty="0"/>
              <a:t>• Full-Stack MERN Platform:</a:t>
            </a:r>
          </a:p>
          <a:p>
            <a:pPr>
              <a:spcBef>
                <a:spcPts val="100"/>
              </a:spcBef>
              <a:defRPr sz="1100">
                <a:solidFill>
                  <a:srgbClr val="DCE4DD"/>
                </a:solidFill>
                <a:latin typeface="IBM Plex Sans"/>
              </a:defRPr>
            </a:pPr>
            <a:r>
              <a:rPr dirty="0"/>
              <a:t>  100% of core networking modules delivered and deployed. Responsive UI with Tailwind CSS and React 18 SPA.</a:t>
            </a:r>
          </a:p>
          <a:p>
            <a:pPr>
              <a:spcBef>
                <a:spcPts val="800"/>
              </a:spcBef>
              <a:defRPr sz="1200" b="1">
                <a:solidFill>
                  <a:srgbClr val="FFFFFF"/>
                </a:solidFill>
                <a:latin typeface="IBM Plex Sans SemiBold"/>
              </a:defRPr>
            </a:pPr>
            <a:r>
              <a:rPr dirty="0"/>
              <a:t>• Robust Engineering Standards:</a:t>
            </a:r>
          </a:p>
          <a:p>
            <a:pPr>
              <a:spcBef>
                <a:spcPts val="100"/>
              </a:spcBef>
              <a:defRPr sz="1100">
                <a:solidFill>
                  <a:srgbClr val="DCE4DD"/>
                </a:solidFill>
                <a:latin typeface="IBM Plex Sans"/>
              </a:defRPr>
            </a:pPr>
            <a:r>
              <a:rPr dirty="0"/>
              <a:t>  9 </a:t>
            </a:r>
            <a:r>
              <a:rPr dirty="0" err="1"/>
              <a:t>GoF</a:t>
            </a:r>
            <a:r>
              <a:rPr dirty="0"/>
              <a:t> design patterns successfully refactored. Strict SOLID compliance eliminating God controllers.</a:t>
            </a:r>
          </a:p>
          <a:p>
            <a:pPr>
              <a:spcBef>
                <a:spcPts val="800"/>
              </a:spcBef>
              <a:defRPr sz="1200" b="1">
                <a:solidFill>
                  <a:srgbClr val="FFFFFF"/>
                </a:solidFill>
                <a:latin typeface="IBM Plex Sans SemiBold"/>
              </a:defRPr>
            </a:pPr>
            <a:r>
              <a:rPr dirty="0"/>
              <a:t>• Quality Assurance Verification:</a:t>
            </a:r>
          </a:p>
          <a:p>
            <a:pPr>
              <a:spcBef>
                <a:spcPts val="100"/>
              </a:spcBef>
              <a:defRPr sz="1100">
                <a:solidFill>
                  <a:srgbClr val="DCE4DD"/>
                </a:solidFill>
                <a:latin typeface="IBM Plex Sans"/>
              </a:defRPr>
            </a:pPr>
            <a:r>
              <a:rPr dirty="0"/>
              <a:t>  26 formal test steps recorded with full bug verification. Automated Postman API test collections established.</a:t>
            </a:r>
          </a:p>
          <a:p>
            <a:pPr>
              <a:spcBef>
                <a:spcPts val="800"/>
              </a:spcBef>
              <a:defRPr sz="1200" b="1">
                <a:solidFill>
                  <a:srgbClr val="FFFFFF"/>
                </a:solidFill>
                <a:latin typeface="IBM Plex Sans SemiBold"/>
              </a:defRPr>
            </a:pPr>
            <a:r>
              <a:rPr dirty="0"/>
              <a:t>• Schedule Adherence:</a:t>
            </a:r>
          </a:p>
          <a:p>
            <a:pPr>
              <a:spcBef>
                <a:spcPts val="100"/>
              </a:spcBef>
              <a:defRPr sz="1100">
                <a:solidFill>
                  <a:srgbClr val="DCE4DD"/>
                </a:solidFill>
                <a:latin typeface="IBM Plex Sans"/>
              </a:defRPr>
            </a:pPr>
            <a:r>
              <a:rPr dirty="0"/>
              <a:t>  Completed on-time across 15 sprints by 31 October 2026.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5352" y="1965960"/>
            <a:ext cx="5486400" cy="4480560"/>
          </a:xfrm>
          <a:prstGeom prst="roundRect">
            <a:avLst/>
          </a:prstGeom>
          <a:solidFill>
            <a:srgbClr val="E5E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defRPr sz="2000" b="1">
                <a:solidFill>
                  <a:srgbClr val="10201D"/>
                </a:solidFill>
                <a:latin typeface="IBM Plex Sans SemiBold"/>
              </a:defRPr>
            </a:pPr>
            <a:r>
              <a:rPr dirty="0"/>
              <a:t>Academic &amp; Technical Learnings</a:t>
            </a:r>
          </a:p>
          <a:p>
            <a:pPr>
              <a:spcBef>
                <a:spcPts val="200"/>
              </a:spcBef>
              <a:defRPr sz="1100">
                <a:solidFill>
                  <a:srgbClr val="0A7C78"/>
                </a:solidFill>
                <a:latin typeface="IBM Plex Sans SemiBold"/>
              </a:defRPr>
            </a:pPr>
            <a:r>
              <a:rPr dirty="0"/>
              <a:t>Engineering Competencies &amp; Formal Sign-Off</a:t>
            </a:r>
          </a:p>
          <a:p>
            <a:pPr>
              <a:spcBef>
                <a:spcPts val="800"/>
              </a:spcBef>
              <a:defRPr sz="1200" b="1">
                <a:solidFill>
                  <a:srgbClr val="083C35"/>
                </a:solidFill>
                <a:latin typeface="IBM Plex Sans SemiBold"/>
              </a:defRPr>
            </a:pPr>
            <a:r>
              <a:rPr dirty="0"/>
              <a:t>• Agile Scrum Discipline:</a:t>
            </a:r>
          </a:p>
          <a:p>
            <a:pPr>
              <a:spcBef>
                <a:spcPts val="100"/>
              </a:spcBef>
              <a:defRPr sz="1100">
                <a:solidFill>
                  <a:srgbClr val="10201D"/>
                </a:solidFill>
                <a:latin typeface="IBM Plex Sans"/>
              </a:defRPr>
            </a:pPr>
            <a:r>
              <a:rPr dirty="0"/>
              <a:t>  Practiced time-boxed sprint planning, daily scrums, and retrospectives under PMDP guidelines.</a:t>
            </a:r>
          </a:p>
          <a:p>
            <a:pPr>
              <a:spcBef>
                <a:spcPts val="800"/>
              </a:spcBef>
              <a:defRPr sz="1200" b="1">
                <a:solidFill>
                  <a:srgbClr val="083C35"/>
                </a:solidFill>
                <a:latin typeface="IBM Plex Sans SemiBold"/>
              </a:defRPr>
            </a:pPr>
            <a:r>
              <a:rPr dirty="0"/>
              <a:t>• Real-Time </a:t>
            </a:r>
            <a:r>
              <a:rPr dirty="0" smtClean="0"/>
              <a:t>Web Socket </a:t>
            </a:r>
            <a:r>
              <a:rPr dirty="0"/>
              <a:t>Architecture:</a:t>
            </a:r>
          </a:p>
          <a:p>
            <a:pPr>
              <a:spcBef>
                <a:spcPts val="100"/>
              </a:spcBef>
              <a:defRPr sz="1100">
                <a:solidFill>
                  <a:srgbClr val="10201D"/>
                </a:solidFill>
                <a:latin typeface="IBM Plex Sans"/>
              </a:defRPr>
            </a:pPr>
            <a:r>
              <a:rPr dirty="0"/>
              <a:t>  Overcame connection leak challenges through Socket.io heartbeat management and room-based pub/sub.</a:t>
            </a:r>
          </a:p>
          <a:p>
            <a:pPr>
              <a:spcBef>
                <a:spcPts val="800"/>
              </a:spcBef>
              <a:defRPr sz="1200" b="1">
                <a:solidFill>
                  <a:srgbClr val="083C35"/>
                </a:solidFill>
                <a:latin typeface="IBM Plex Sans SemiBold"/>
              </a:defRPr>
            </a:pPr>
            <a:r>
              <a:rPr dirty="0"/>
              <a:t>• Architectural Pattern Trade-offs:</a:t>
            </a:r>
          </a:p>
          <a:p>
            <a:pPr>
              <a:spcBef>
                <a:spcPts val="100"/>
              </a:spcBef>
              <a:defRPr sz="1100">
                <a:solidFill>
                  <a:srgbClr val="10201D"/>
                </a:solidFill>
                <a:latin typeface="IBM Plex Sans"/>
              </a:defRPr>
            </a:pPr>
            <a:r>
              <a:rPr dirty="0"/>
              <a:t>  Learned when to apply design patterns (Facade, Strategy, State) to solve real complexity without over-engineering.</a:t>
            </a:r>
          </a:p>
          <a:p>
            <a:pPr>
              <a:spcBef>
                <a:spcPts val="800"/>
              </a:spcBef>
              <a:defRPr sz="1200" b="1">
                <a:solidFill>
                  <a:srgbClr val="083C35"/>
                </a:solidFill>
                <a:latin typeface="IBM Plex Sans SemiBold"/>
              </a:defRPr>
            </a:pPr>
            <a:r>
              <a:rPr dirty="0"/>
              <a:t>• Project Sign-Off (Section 6.11.8):</a:t>
            </a:r>
          </a:p>
          <a:p>
            <a:pPr>
              <a:spcBef>
                <a:spcPts val="100"/>
              </a:spcBef>
              <a:defRPr sz="1100">
                <a:solidFill>
                  <a:srgbClr val="10201D"/>
                </a:solidFill>
                <a:latin typeface="IBM Plex Sans"/>
              </a:defRPr>
            </a:pPr>
            <a:r>
              <a:rPr dirty="0"/>
              <a:t>  Formally approved on 31-10-2026 by Project Guide Prof. Rita </a:t>
            </a:r>
            <a:r>
              <a:rPr dirty="0" err="1"/>
              <a:t>Gokani</a:t>
            </a:r>
            <a:r>
              <a:rPr dirty="0"/>
              <a:t>.</a:t>
            </a:r>
          </a:p>
        </p:txBody>
      </p:sp>
      <p:sp>
        <p:nvSpPr>
          <p:cNvPr id="7" name="Oval 6"/>
          <p:cNvSpPr/>
          <p:nvPr/>
        </p:nvSpPr>
        <p:spPr>
          <a:xfrm>
            <a:off x="10954693" y="6547104"/>
            <a:ext cx="1237307" cy="31089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66928"/>
            <a:ext cx="11430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0A7C78"/>
                </a:solidFill>
                <a:latin typeface="IBM Plex Sans SemiBold"/>
              </a:defRPr>
            </a:pPr>
            <a:r>
              <a:rPr sz="1100" dirty="0">
                <a:solidFill>
                  <a:srgbClr val="0A7C78"/>
                </a:solidFill>
                <a:latin typeface="IBM Plex Sans SemiBold"/>
              </a:rPr>
              <a:t>LJ UNIVERSITY · PMDP · SEMESTER 9 (IMCA)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1081735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5400" b="1">
                <a:solidFill>
                  <a:srgbClr val="10201D"/>
                </a:solidFill>
                <a:latin typeface="Sora Bold"/>
              </a:defRPr>
            </a:pPr>
            <a:r>
              <a:rPr sz="5400" b="1" dirty="0">
                <a:solidFill>
                  <a:srgbClr val="10201D"/>
                </a:solidFill>
                <a:latin typeface="Sora Bold"/>
              </a:rP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468880"/>
            <a:ext cx="10817352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0A7C78"/>
                </a:solidFill>
                <a:latin typeface="IBM Plex Sans SemiBold"/>
              </a:defRPr>
            </a:pPr>
            <a:r>
              <a:rPr sz="1100" dirty="0" err="1">
                <a:solidFill>
                  <a:srgbClr val="0A7C78"/>
                </a:solidFill>
                <a:latin typeface="IBM Plex Sans SemiBold"/>
              </a:rPr>
              <a:t>LinkPro</a:t>
            </a:r>
            <a:r>
              <a:rPr sz="1100" dirty="0">
                <a:solidFill>
                  <a:srgbClr val="0A7C78"/>
                </a:solidFill>
                <a:latin typeface="IBM Plex Sans SemiBold"/>
              </a:rPr>
              <a:t> Networking Platform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017520"/>
            <a:ext cx="3502152" cy="3291840"/>
          </a:xfrm>
          <a:prstGeom prst="roundRect">
            <a:avLst/>
          </a:prstGeom>
          <a:solidFill>
            <a:srgbClr val="083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201168" bIns="201168" rtlCol="0" anchor="ctr"/>
          <a:lstStyle/>
          <a:p>
            <a:pPr algn="ctr">
              <a:defRPr sz="1800" b="1">
                <a:solidFill>
                  <a:srgbClr val="55D9CB"/>
                </a:solidFill>
                <a:latin typeface="IBM Plex Sans SemiBold"/>
              </a:defRPr>
            </a:pPr>
            <a:r>
              <a:rPr sz="1800" b="1" dirty="0">
                <a:solidFill>
                  <a:srgbClr val="55D9CB"/>
                </a:solidFill>
                <a:latin typeface="IBM Plex Sans SemiBold"/>
              </a:rPr>
              <a:t>Project Guidance</a:t>
            </a:r>
          </a:p>
          <a:p>
            <a:pPr>
              <a:spcBef>
                <a:spcPts val="200"/>
              </a:spcBef>
              <a:defRPr sz="1000">
                <a:solidFill>
                  <a:srgbClr val="DCE4DD"/>
                </a:solidFill>
                <a:latin typeface="IBM Plex Sans SemiBold"/>
              </a:defRPr>
            </a:pPr>
            <a:r>
              <a:rPr sz="1000" dirty="0">
                <a:solidFill>
                  <a:srgbClr val="DCE4DD"/>
                </a:solidFill>
                <a:latin typeface="IBM Plex Sans SemiBold"/>
              </a:rPr>
              <a:t>Academic Leadership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  <a:latin typeface="IBM Plex Sans"/>
              </a:defRPr>
            </a:pPr>
            <a:r>
              <a:rPr sz="1150" dirty="0">
                <a:solidFill>
                  <a:srgbClr val="FFFFFF"/>
                </a:solidFill>
                <a:latin typeface="IBM Plex Sans"/>
              </a:rPr>
              <a:t>• Prof. Rita </a:t>
            </a:r>
            <a:r>
              <a:rPr sz="1150" dirty="0" err="1">
                <a:solidFill>
                  <a:srgbClr val="FFFFFF"/>
                </a:solidFill>
                <a:latin typeface="IBM Plex Sans"/>
              </a:rPr>
              <a:t>Gokani</a:t>
            </a:r>
            <a:r>
              <a:rPr sz="1150" dirty="0">
                <a:solidFill>
                  <a:srgbClr val="FFFFFF"/>
                </a:solidFill>
                <a:latin typeface="IBM Plex Sans"/>
              </a:rPr>
              <a:t> (Internal Guide)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  <a:latin typeface="IBM Plex Sans"/>
              </a:defRPr>
            </a:pPr>
            <a:r>
              <a:rPr sz="1150" dirty="0">
                <a:solidFill>
                  <a:srgbClr val="FFFFFF"/>
                </a:solidFill>
                <a:latin typeface="IBM Plex Sans"/>
              </a:rPr>
              <a:t>• Dr. Monica </a:t>
            </a:r>
            <a:r>
              <a:rPr sz="1150" dirty="0" err="1">
                <a:solidFill>
                  <a:srgbClr val="FFFFFF"/>
                </a:solidFill>
                <a:latin typeface="IBM Plex Sans"/>
              </a:rPr>
              <a:t>Gahalawat</a:t>
            </a:r>
            <a:r>
              <a:rPr sz="1150" dirty="0">
                <a:solidFill>
                  <a:srgbClr val="FFFFFF"/>
                </a:solidFill>
                <a:latin typeface="IBM Plex Sans"/>
              </a:rPr>
              <a:t> (HOD)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  <a:latin typeface="IBM Plex Sans"/>
              </a:defRPr>
            </a:pPr>
            <a:r>
              <a:rPr sz="1150" dirty="0">
                <a:solidFill>
                  <a:srgbClr val="FFFFFF"/>
                </a:solidFill>
                <a:latin typeface="IBM Plex Sans"/>
              </a:rPr>
              <a:t>• Prof. </a:t>
            </a:r>
            <a:r>
              <a:rPr sz="1150" dirty="0" err="1">
                <a:solidFill>
                  <a:srgbClr val="FFFFFF"/>
                </a:solidFill>
                <a:latin typeface="IBM Plex Sans"/>
              </a:rPr>
              <a:t>Alok</a:t>
            </a:r>
            <a:r>
              <a:rPr sz="1150" dirty="0">
                <a:solidFill>
                  <a:srgbClr val="FFFFFF"/>
                </a:solidFill>
                <a:latin typeface="IBM Plex Sans"/>
              </a:rPr>
              <a:t> </a:t>
            </a:r>
            <a:r>
              <a:rPr sz="1150" dirty="0" err="1">
                <a:solidFill>
                  <a:srgbClr val="FFFFFF"/>
                </a:solidFill>
                <a:latin typeface="IBM Plex Sans"/>
              </a:rPr>
              <a:t>Manke</a:t>
            </a:r>
            <a:r>
              <a:rPr sz="1150" dirty="0">
                <a:solidFill>
                  <a:srgbClr val="FFFFFF"/>
                </a:solidFill>
                <a:latin typeface="IBM Plex Sans"/>
              </a:rPr>
              <a:t> (Director)</a:t>
            </a:r>
          </a:p>
          <a:p>
            <a:pPr>
              <a:spcBef>
                <a:spcPts val="100"/>
              </a:spcBef>
              <a:defRPr sz="1150">
                <a:solidFill>
                  <a:srgbClr val="DCE4DD"/>
                </a:solidFill>
                <a:latin typeface="IBM Plex Sans"/>
              </a:defRPr>
            </a:pPr>
            <a:r>
              <a:rPr sz="1150" dirty="0">
                <a:solidFill>
                  <a:srgbClr val="DCE4DD"/>
                </a:solidFill>
                <a:latin typeface="IBM Plex Sans"/>
              </a:rPr>
              <a:t>L.J. University, Ahmedabad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3017520"/>
            <a:ext cx="3502152" cy="3291840"/>
          </a:xfrm>
          <a:prstGeom prst="roundRect">
            <a:avLst/>
          </a:prstGeom>
          <a:solidFill>
            <a:srgbClr val="083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201168" bIns="201168" rtlCol="0" anchor="ctr"/>
          <a:lstStyle/>
          <a:p>
            <a:pPr algn="ctr">
              <a:defRPr sz="1800" b="1">
                <a:solidFill>
                  <a:srgbClr val="55D9CB"/>
                </a:solidFill>
                <a:latin typeface="IBM Plex Sans SemiBold"/>
              </a:defRPr>
            </a:pPr>
            <a:r>
              <a:rPr sz="1800" b="1" dirty="0">
                <a:solidFill>
                  <a:srgbClr val="55D9CB"/>
                </a:solidFill>
                <a:latin typeface="IBM Plex Sans SemiBold"/>
              </a:rPr>
              <a:t>Development Team</a:t>
            </a:r>
          </a:p>
          <a:p>
            <a:pPr>
              <a:spcBef>
                <a:spcPts val="200"/>
              </a:spcBef>
              <a:defRPr sz="1000">
                <a:solidFill>
                  <a:srgbClr val="DCE4DD"/>
                </a:solidFill>
                <a:latin typeface="IBM Plex Sans SemiBold"/>
              </a:defRPr>
            </a:pPr>
            <a:r>
              <a:rPr sz="1000" dirty="0">
                <a:solidFill>
                  <a:srgbClr val="DCE4DD"/>
                </a:solidFill>
                <a:latin typeface="IBM Plex Sans SemiBold"/>
              </a:rPr>
              <a:t>Engineering Ownership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  <a:latin typeface="IBM Plex Sans"/>
              </a:defRPr>
            </a:pPr>
            <a:r>
              <a:rPr sz="1150" dirty="0">
                <a:solidFill>
                  <a:srgbClr val="FFFFFF"/>
                </a:solidFill>
                <a:latin typeface="IBM Plex Sans"/>
              </a:rPr>
              <a:t>• </a:t>
            </a:r>
            <a:r>
              <a:rPr sz="1150" dirty="0" err="1">
                <a:solidFill>
                  <a:srgbClr val="FFFFFF"/>
                </a:solidFill>
                <a:latin typeface="IBM Plex Sans"/>
              </a:rPr>
              <a:t>Anand</a:t>
            </a:r>
            <a:r>
              <a:rPr sz="1150" dirty="0">
                <a:solidFill>
                  <a:srgbClr val="FFFFFF"/>
                </a:solidFill>
                <a:latin typeface="IBM Plex Sans"/>
              </a:rPr>
              <a:t> </a:t>
            </a:r>
            <a:r>
              <a:rPr sz="1150" dirty="0" err="1">
                <a:solidFill>
                  <a:srgbClr val="FFFFFF"/>
                </a:solidFill>
                <a:latin typeface="IBM Plex Sans"/>
              </a:rPr>
              <a:t>Yadav</a:t>
            </a:r>
            <a:r>
              <a:rPr sz="1150" dirty="0">
                <a:solidFill>
                  <a:srgbClr val="FFFFFF"/>
                </a:solidFill>
                <a:latin typeface="IBM Plex Sans"/>
              </a:rPr>
              <a:t> (22002501210066 · B66)</a:t>
            </a:r>
          </a:p>
          <a:p>
            <a:pPr>
              <a:spcBef>
                <a:spcPts val="100"/>
              </a:spcBef>
              <a:defRPr sz="1150">
                <a:solidFill>
                  <a:srgbClr val="DCE4DD"/>
                </a:solidFill>
                <a:latin typeface="IBM Plex Sans"/>
              </a:defRPr>
            </a:pPr>
            <a:r>
              <a:rPr sz="1150" dirty="0">
                <a:solidFill>
                  <a:srgbClr val="DCE4DD"/>
                </a:solidFill>
                <a:latin typeface="IBM Plex Sans"/>
              </a:rPr>
              <a:t>  Backend &amp; Database Architect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  <a:latin typeface="IBM Plex Sans"/>
              </a:defRPr>
            </a:pPr>
            <a:r>
              <a:rPr sz="1150" dirty="0">
                <a:solidFill>
                  <a:srgbClr val="FFFFFF"/>
                </a:solidFill>
                <a:latin typeface="IBM Plex Sans"/>
              </a:rPr>
              <a:t>• </a:t>
            </a:r>
            <a:r>
              <a:rPr sz="1150" dirty="0" err="1">
                <a:solidFill>
                  <a:srgbClr val="FFFFFF"/>
                </a:solidFill>
                <a:latin typeface="IBM Plex Sans"/>
              </a:rPr>
              <a:t>Smit</a:t>
            </a:r>
            <a:r>
              <a:rPr sz="1150" dirty="0">
                <a:solidFill>
                  <a:srgbClr val="FFFFFF"/>
                </a:solidFill>
                <a:latin typeface="IBM Plex Sans"/>
              </a:rPr>
              <a:t> </a:t>
            </a:r>
            <a:r>
              <a:rPr sz="1150" dirty="0" err="1">
                <a:solidFill>
                  <a:srgbClr val="FFFFFF"/>
                </a:solidFill>
                <a:latin typeface="IBM Plex Sans"/>
              </a:rPr>
              <a:t>Dutt</a:t>
            </a:r>
            <a:r>
              <a:rPr sz="1150" dirty="0">
                <a:solidFill>
                  <a:srgbClr val="FFFFFF"/>
                </a:solidFill>
                <a:latin typeface="IBM Plex Sans"/>
              </a:rPr>
              <a:t> (22002501210008 · B09)</a:t>
            </a:r>
          </a:p>
          <a:p>
            <a:pPr>
              <a:spcBef>
                <a:spcPts val="100"/>
              </a:spcBef>
              <a:defRPr sz="1150">
                <a:solidFill>
                  <a:srgbClr val="DCE4DD"/>
                </a:solidFill>
                <a:latin typeface="IBM Plex Sans"/>
              </a:defRPr>
            </a:pPr>
            <a:r>
              <a:rPr sz="1150" dirty="0">
                <a:solidFill>
                  <a:srgbClr val="DCE4DD"/>
                </a:solidFill>
                <a:latin typeface="IBM Plex Sans"/>
              </a:rPr>
              <a:t>  Frontend &amp; UI/UX Architect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  <a:latin typeface="IBM Plex Sans"/>
              </a:defRPr>
            </a:pPr>
            <a:r>
              <a:rPr sz="1150" dirty="0">
                <a:solidFill>
                  <a:srgbClr val="FFFFFF"/>
                </a:solidFill>
                <a:latin typeface="IBM Plex Sans"/>
              </a:rPr>
              <a:t>• </a:t>
            </a:r>
            <a:r>
              <a:rPr sz="1150" dirty="0" err="1">
                <a:solidFill>
                  <a:srgbClr val="FFFFFF"/>
                </a:solidFill>
                <a:latin typeface="IBM Plex Sans"/>
              </a:rPr>
              <a:t>Hardik</a:t>
            </a:r>
            <a:r>
              <a:rPr sz="1150" dirty="0">
                <a:solidFill>
                  <a:srgbClr val="FFFFFF"/>
                </a:solidFill>
                <a:latin typeface="IBM Plex Sans"/>
              </a:rPr>
              <a:t> </a:t>
            </a:r>
            <a:r>
              <a:rPr sz="1150" dirty="0" err="1">
                <a:solidFill>
                  <a:srgbClr val="FFFFFF"/>
                </a:solidFill>
                <a:latin typeface="IBM Plex Sans"/>
              </a:rPr>
              <a:t>Nakum</a:t>
            </a:r>
            <a:r>
              <a:rPr sz="1150" dirty="0">
                <a:solidFill>
                  <a:srgbClr val="FFFFFF"/>
                </a:solidFill>
                <a:latin typeface="IBM Plex Sans"/>
              </a:rPr>
              <a:t> (22002501210035 · B32)</a:t>
            </a:r>
          </a:p>
          <a:p>
            <a:pPr>
              <a:spcBef>
                <a:spcPts val="100"/>
              </a:spcBef>
              <a:defRPr sz="1150">
                <a:solidFill>
                  <a:srgbClr val="DCE4DD"/>
                </a:solidFill>
                <a:latin typeface="IBM Plex Sans"/>
              </a:defRPr>
            </a:pPr>
            <a:r>
              <a:rPr sz="1150" dirty="0">
                <a:solidFill>
                  <a:srgbClr val="DCE4DD"/>
                </a:solidFill>
                <a:latin typeface="IBM Plex Sans"/>
              </a:rPr>
              <a:t>  QA, Testing Lead &amp; Documentation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0" y="3017520"/>
            <a:ext cx="3502152" cy="3291840"/>
          </a:xfrm>
          <a:prstGeom prst="roundRect">
            <a:avLst/>
          </a:prstGeom>
          <a:solidFill>
            <a:srgbClr val="083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201168" bIns="201168" rtlCol="0" anchor="ctr"/>
          <a:lstStyle/>
          <a:p>
            <a:pPr algn="ctr">
              <a:defRPr sz="1800" b="1">
                <a:solidFill>
                  <a:srgbClr val="55D9CB"/>
                </a:solidFill>
                <a:latin typeface="IBM Plex Sans SemiBold"/>
              </a:defRPr>
            </a:pPr>
            <a:r>
              <a:rPr sz="1800" b="1" dirty="0">
                <a:solidFill>
                  <a:srgbClr val="55D9CB"/>
                </a:solidFill>
                <a:latin typeface="IBM Plex Sans SemiBold"/>
              </a:rPr>
              <a:t>Project Artifacts</a:t>
            </a:r>
          </a:p>
          <a:p>
            <a:pPr>
              <a:spcBef>
                <a:spcPts val="200"/>
              </a:spcBef>
              <a:defRPr sz="1000">
                <a:solidFill>
                  <a:srgbClr val="DCE4DD"/>
                </a:solidFill>
                <a:latin typeface="IBM Plex Sans SemiBold"/>
              </a:defRPr>
            </a:pPr>
            <a:r>
              <a:rPr sz="1000" dirty="0">
                <a:solidFill>
                  <a:srgbClr val="DCE4DD"/>
                </a:solidFill>
                <a:latin typeface="IBM Plex Sans SemiBold"/>
              </a:rPr>
              <a:t>Verified Deliverables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  <a:latin typeface="IBM Plex Sans"/>
              </a:defRPr>
            </a:pPr>
            <a:r>
              <a:rPr sz="1150" dirty="0">
                <a:solidFill>
                  <a:srgbClr val="FFFFFF"/>
                </a:solidFill>
                <a:latin typeface="IBM Plex Sans"/>
              </a:rPr>
              <a:t>• </a:t>
            </a:r>
            <a:r>
              <a:rPr sz="1150" dirty="0" err="1">
                <a:solidFill>
                  <a:srgbClr val="FFFFFF"/>
                </a:solidFill>
                <a:latin typeface="IBM Plex Sans"/>
              </a:rPr>
              <a:t>GitHub</a:t>
            </a:r>
            <a:r>
              <a:rPr sz="1150" dirty="0">
                <a:solidFill>
                  <a:srgbClr val="FFFFFF"/>
                </a:solidFill>
                <a:latin typeface="IBM Plex Sans"/>
              </a:rPr>
              <a:t> Codebase Repository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  <a:latin typeface="IBM Plex Sans"/>
              </a:defRPr>
            </a:pPr>
            <a:r>
              <a:rPr sz="1150" dirty="0">
                <a:solidFill>
                  <a:srgbClr val="FFFFFF"/>
                </a:solidFill>
                <a:latin typeface="IBM Plex Sans"/>
              </a:rPr>
              <a:t>• Comprehensive 80+ Page PMDP Report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  <a:latin typeface="IBM Plex Sans"/>
              </a:defRPr>
            </a:pPr>
            <a:r>
              <a:rPr sz="1150" dirty="0">
                <a:solidFill>
                  <a:srgbClr val="FFFFFF"/>
                </a:solidFill>
                <a:latin typeface="IBM Plex Sans"/>
              </a:rPr>
              <a:t>• </a:t>
            </a:r>
            <a:r>
              <a:rPr sz="1150" dirty="0" err="1">
                <a:solidFill>
                  <a:srgbClr val="FFFFFF"/>
                </a:solidFill>
                <a:latin typeface="IBM Plex Sans"/>
              </a:rPr>
              <a:t>Jira</a:t>
            </a:r>
            <a:r>
              <a:rPr sz="1150" dirty="0">
                <a:solidFill>
                  <a:srgbClr val="FFFFFF"/>
                </a:solidFill>
                <a:latin typeface="IBM Plex Sans"/>
              </a:rPr>
              <a:t> Scrum LINKPRO Board (6 Epics)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  <a:latin typeface="IBM Plex Sans"/>
              </a:defRPr>
            </a:pPr>
            <a:r>
              <a:rPr sz="1150" dirty="0">
                <a:solidFill>
                  <a:srgbClr val="FFFFFF"/>
                </a:solidFill>
                <a:latin typeface="IBM Plex Sans"/>
              </a:rPr>
              <a:t>• Automated Postman API Test Suite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  <a:latin typeface="IBM Plex Sans"/>
              </a:defRPr>
            </a:pPr>
            <a:r>
              <a:rPr sz="1150" dirty="0">
                <a:solidFill>
                  <a:srgbClr val="FFFFFF"/>
                </a:solidFill>
                <a:latin typeface="IBM Plex Sans"/>
              </a:rPr>
              <a:t>• Cloud-Deployed MERN Web Application</a:t>
            </a:r>
          </a:p>
        </p:txBody>
      </p:sp>
      <p:sp>
        <p:nvSpPr>
          <p:cNvPr id="9" name="Oval 8"/>
          <p:cNvSpPr/>
          <p:nvPr/>
        </p:nvSpPr>
        <p:spPr>
          <a:xfrm>
            <a:off x="10954693" y="6547104"/>
            <a:ext cx="1237307" cy="31089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3009</Words>
  <Application>Microsoft Office PowerPoint</Application>
  <PresentationFormat>Widescreen</PresentationFormat>
  <Paragraphs>489</Paragraphs>
  <Slides>19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IBM Plex Sans</vt:lpstr>
      <vt:lpstr>Arial</vt:lpstr>
      <vt:lpstr>IBM Plex Sans SemiBold</vt:lpstr>
      <vt:lpstr>IBM Plex Sans Bold</vt:lpstr>
      <vt:lpstr>Sora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Microsoft account</cp:lastModifiedBy>
  <cp:revision>15</cp:revision>
  <dcterms:created xsi:type="dcterms:W3CDTF">2026-10-28T12:23:24Z</dcterms:created>
  <dcterms:modified xsi:type="dcterms:W3CDTF">2026-10-29T06:03:46Z</dcterms:modified>
</cp:coreProperties>
</file>